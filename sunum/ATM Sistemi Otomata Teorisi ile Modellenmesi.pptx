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8288000" cy="10287000"/>
  <p:notesSz cx="6858000" cy="9144000"/>
  <p:embeddedFontLst>
    <p:embeddedFont>
      <p:font typeface="Times New Roman" charset="1" panose="02020603050405020304"/>
      <p:regular r:id="rId28"/>
    </p:embeddedFont>
    <p:embeddedFont>
      <p:font typeface="Source Serif Pro" charset="1" panose="02040603050405020204"/>
      <p:regular r:id="rId29"/>
    </p:embeddedFont>
    <p:embeddedFont>
      <p:font typeface="Times New Roman Bold" charset="1" panose="02020803070505020304"/>
      <p:regular r:id="rId30"/>
    </p:embeddedFont>
    <p:embeddedFont>
      <p:font typeface="Abril Fatface" charset="1" panose="02000503000000020003"/>
      <p:regular r:id="rId31"/>
    </p:embeddedFont>
    <p:embeddedFont>
      <p:font typeface="Arimo Bold" charset="1" panose="020B0704020202020204"/>
      <p:regular r:id="rId32"/>
    </p:embeddedFont>
    <p:embeddedFont>
      <p:font typeface="Monterchi Serif Bold" charset="1" panose="02000503060000020004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embeddings/oleObject2.bin" Type="http://schemas.openxmlformats.org/officeDocument/2006/relationships/oleObjec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1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embeddings/oleObject3.bin" Type="http://schemas.openxmlformats.org/officeDocument/2006/relationships/oleObjec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embeddings/oleObject4.bin" Type="http://schemas.openxmlformats.org/officeDocument/2006/relationships/oleObject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6666580">
            <a:off x="9654716" y="2742945"/>
            <a:ext cx="9400422" cy="9722890"/>
          </a:xfrm>
          <a:custGeom>
            <a:avLst/>
            <a:gdLst/>
            <a:ahLst/>
            <a:cxnLst/>
            <a:rect r="r" b="b" t="t" l="l"/>
            <a:pathLst>
              <a:path h="9722890" w="9400422">
                <a:moveTo>
                  <a:pt x="0" y="0"/>
                </a:moveTo>
                <a:lnTo>
                  <a:pt x="9400422" y="0"/>
                </a:lnTo>
                <a:lnTo>
                  <a:pt x="9400422" y="9722890"/>
                </a:lnTo>
                <a:lnTo>
                  <a:pt x="0" y="97228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631316">
            <a:off x="-341565" y="-1602678"/>
            <a:ext cx="8656207" cy="8953145"/>
          </a:xfrm>
          <a:custGeom>
            <a:avLst/>
            <a:gdLst/>
            <a:ahLst/>
            <a:cxnLst/>
            <a:rect r="r" b="b" t="t" l="l"/>
            <a:pathLst>
              <a:path h="8953145" w="8656207">
                <a:moveTo>
                  <a:pt x="0" y="0"/>
                </a:moveTo>
                <a:lnTo>
                  <a:pt x="8656206" y="0"/>
                </a:lnTo>
                <a:lnTo>
                  <a:pt x="8656206" y="8953145"/>
                </a:lnTo>
                <a:lnTo>
                  <a:pt x="0" y="89531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30749" y="1468727"/>
            <a:ext cx="8343860" cy="9123127"/>
          </a:xfrm>
          <a:custGeom>
            <a:avLst/>
            <a:gdLst/>
            <a:ahLst/>
            <a:cxnLst/>
            <a:rect r="r" b="b" t="t" l="l"/>
            <a:pathLst>
              <a:path h="9123127" w="8343860">
                <a:moveTo>
                  <a:pt x="0" y="0"/>
                </a:moveTo>
                <a:lnTo>
                  <a:pt x="8343860" y="0"/>
                </a:lnTo>
                <a:lnTo>
                  <a:pt x="8343860" y="9123127"/>
                </a:lnTo>
                <a:lnTo>
                  <a:pt x="0" y="91231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0800000">
            <a:off x="10613756" y="-239704"/>
            <a:ext cx="7797854" cy="8526128"/>
          </a:xfrm>
          <a:custGeom>
            <a:avLst/>
            <a:gdLst/>
            <a:ahLst/>
            <a:cxnLst/>
            <a:rect r="r" b="b" t="t" l="l"/>
            <a:pathLst>
              <a:path h="8526128" w="7797854">
                <a:moveTo>
                  <a:pt x="0" y="0"/>
                </a:moveTo>
                <a:lnTo>
                  <a:pt x="7797854" y="0"/>
                </a:lnTo>
                <a:lnTo>
                  <a:pt x="7797854" y="8526127"/>
                </a:lnTo>
                <a:lnTo>
                  <a:pt x="0" y="85261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80411" y="2735819"/>
            <a:ext cx="16927178" cy="3936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367"/>
              </a:lnSpc>
              <a:spcBef>
                <a:spcPct val="0"/>
              </a:spcBef>
            </a:pPr>
            <a:r>
              <a:rPr lang="en-US" sz="7405" spc="2673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ATM SISTEMI OTOMATA TEORISI   ILE MODELLENMESI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361083" y="8210223"/>
            <a:ext cx="7926917" cy="2076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666"/>
              </a:lnSpc>
            </a:pPr>
            <a:r>
              <a:rPr lang="en-US" sz="4047" spc="89">
                <a:solidFill>
                  <a:srgbClr val="3D2917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Ceren Mutlu</a:t>
            </a:r>
          </a:p>
          <a:p>
            <a:pPr algn="r">
              <a:lnSpc>
                <a:spcPts val="5666"/>
              </a:lnSpc>
            </a:pPr>
            <a:r>
              <a:rPr lang="en-US" sz="4047" spc="89">
                <a:solidFill>
                  <a:srgbClr val="3D2917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Ceyda Ankara</a:t>
            </a:r>
          </a:p>
          <a:p>
            <a:pPr algn="r" marL="0" indent="0" lvl="0">
              <a:lnSpc>
                <a:spcPts val="5666"/>
              </a:lnSpc>
              <a:spcBef>
                <a:spcPct val="0"/>
              </a:spcBef>
            </a:pPr>
            <a:r>
              <a:rPr lang="en-US" sz="4047" spc="89">
                <a:solidFill>
                  <a:srgbClr val="3D2917"/>
                </a:solidFill>
                <a:latin typeface="Source Serif Pro"/>
                <a:ea typeface="Source Serif Pro"/>
                <a:cs typeface="Source Serif Pro"/>
                <a:sym typeface="Source Serif Pro"/>
              </a:rPr>
              <a:t>Süheyla Melike Turan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36997" y="800100"/>
            <a:ext cx="8060978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Tanımı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0" y="2873223"/>
            <a:ext cx="18288000" cy="5916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Günümüzde bankacılık işlemlerinin büyük bir kısmı ATM'ler aracılığıyla gerçekleştirilmektedir</a:t>
            </a:r>
          </a:p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 projede bir ATM sisteminin işleyişi otomata teorisi kullanılarak modellenmiştir</a:t>
            </a:r>
          </a:p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Sistem; kimlik doğrulama, işlem seçimi, para çekme, para yatırma, transfer ve oturum yönetimi olmak üzere 6 alt süreçten oluşmaktadır</a:t>
            </a:r>
          </a:p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Kullanıcının kartını takmasıyla başlayan ve kartını geri almasıyla sonlanan bu süreç boyunca hatalı PIN girişi, yetersiz bakiye, limit aşımı ve zaman aşımı gibi durumlar da sistem tarafından yönetilmektedir</a:t>
            </a:r>
          </a:p>
          <a:p>
            <a:pPr algn="l">
              <a:lnSpc>
                <a:spcPts val="5179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800100"/>
            <a:ext cx="11810702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Otomata Modeli Seçimi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056255"/>
            <a:ext cx="16230600" cy="7230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98829" indent="-399415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 projede yalnızca tek bir otomata modeli kullanmak yerine, her alt sistemin yapısına en uygun model seçilmiş ve modeller arası dönüşümler gerçekleştirilmiştir.</a:t>
            </a:r>
          </a:p>
          <a:p>
            <a:pPr algn="l" marL="798829" indent="-399415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Kimlik doğrulama, işlem seçimi ve oturum yönetimi alt sistemleri DFA ile modellenmiştir.</a:t>
            </a:r>
          </a:p>
          <a:p>
            <a:pPr algn="l" marL="798829" indent="-399415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Para çekme ve para yatırma alt sistemleri doğrudan DFA ile modellenmiştir.</a:t>
            </a:r>
          </a:p>
          <a:p>
            <a:pPr algn="l" marL="798829" indent="-399415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Transfer alt sisteminde ise hesap ve tutar girişi arasında otomatik geçiş gerektiğinden ε-NFA tercih edilmiş, ardından ε-NFA → NFA → DFA dönüşümü gerçekleştirilmiştir.</a:t>
            </a:r>
          </a:p>
          <a:p>
            <a:pPr algn="l">
              <a:lnSpc>
                <a:spcPts val="5179"/>
              </a:lnSpc>
            </a:pPr>
          </a:p>
          <a:p>
            <a:pPr algn="l">
              <a:lnSpc>
                <a:spcPts val="5179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800100"/>
            <a:ext cx="11420475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Alt</a:t>
            </a:r>
            <a:r>
              <a:rPr lang="en-US" b="true" sz="9200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Otomata Modelleri</a:t>
            </a:r>
          </a:p>
        </p:txBody>
      </p:sp>
      <p:graphicFrame>
        <p:nvGraphicFramePr>
          <p:cNvPr name="Table 3" id="3"/>
          <p:cNvGraphicFramePr>
            <a:graphicFrameLocks noGrp="true"/>
          </p:cNvGraphicFramePr>
          <p:nvPr/>
        </p:nvGraphicFramePr>
        <p:xfrm>
          <a:off x="2855923" y="2798527"/>
          <a:ext cx="12576153" cy="6817438"/>
        </p:xfrm>
        <a:graphic>
          <a:graphicData uri="http://schemas.openxmlformats.org/drawingml/2006/table">
            <a:tbl>
              <a:tblPr/>
              <a:tblGrid>
                <a:gridCol w="6288077"/>
                <a:gridCol w="6288077"/>
              </a:tblGrid>
              <a:tr h="97392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Alt Otomata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Kullanılan Model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</a:tr>
              <a:tr h="97392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Kimlik Doğrulama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DFA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</a:tr>
              <a:tr h="97392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İşlem Seçimi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DFA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</a:tr>
              <a:tr h="97392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 Çekme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DFA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</a:tr>
              <a:tr h="97392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 Yatırma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DFA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</a:tr>
              <a:tr h="97392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Transfer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ε-NFA → NFA → DFA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</a:tr>
              <a:tr h="97392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Oturum Yönetimi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DFA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B29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800100"/>
            <a:ext cx="6610796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Sistem Yapısı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180049"/>
            <a:ext cx="12579265" cy="5390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3D2917"/>
                </a:solidFill>
                <a:latin typeface="Abril Fatface"/>
                <a:ea typeface="Abril Fatface"/>
                <a:cs typeface="Abril Fatface"/>
                <a:sym typeface="Abril Fatface"/>
              </a:rPr>
              <a:t>29 Durum (q0 – q28)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3D2917"/>
                </a:solidFill>
                <a:latin typeface="Abril Fatface"/>
                <a:ea typeface="Abril Fatface"/>
                <a:cs typeface="Abril Fatface"/>
                <a:sym typeface="Abril Fatface"/>
              </a:rPr>
              <a:t>25 G</a:t>
            </a:r>
            <a:r>
              <a:rPr lang="en-US" sz="3399">
                <a:solidFill>
                  <a:srgbClr val="3D2917"/>
                </a:solidFill>
                <a:latin typeface="Abril Fatface"/>
                <a:ea typeface="Abril Fatface"/>
                <a:cs typeface="Abril Fatface"/>
                <a:sym typeface="Abril Fatface"/>
              </a:rPr>
              <a:t>iriş Sembolü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3D2917"/>
                </a:solidFill>
                <a:latin typeface="Abril Fatface"/>
                <a:ea typeface="Abril Fatface"/>
                <a:cs typeface="Abril Fatface"/>
                <a:sym typeface="Abril Fatface"/>
              </a:rPr>
              <a:t>6 Alt Otomata</a:t>
            </a:r>
          </a:p>
          <a:p>
            <a:pPr algn="l">
              <a:lnSpc>
                <a:spcPts val="4759"/>
              </a:lnSpc>
            </a:pP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3D2917"/>
                </a:solidFill>
                <a:latin typeface="Abril Fatface"/>
                <a:ea typeface="Abril Fatface"/>
                <a:cs typeface="Abril Fatface"/>
                <a:sym typeface="Abril Fatface"/>
              </a:rPr>
              <a:t>Başlangıç durumu q0 — ATM'nin kart takılmadan bekleme modunda olduğu durum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3D2917"/>
                </a:solidFill>
                <a:latin typeface="Abril Fatface"/>
                <a:ea typeface="Abril Fatface"/>
                <a:cs typeface="Abril Fatface"/>
                <a:sym typeface="Abril Fatface"/>
              </a:rPr>
              <a:t>Sistem toplam 29 durumdan oluşmakta olup durumlar alt otomatalara göre gruplandırılmıştır</a:t>
            </a:r>
          </a:p>
          <a:p>
            <a:pPr algn="ctr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42169" y="2343150"/>
          <a:ext cx="5657850" cy="6915150"/>
        </p:xfrm>
        <a:graphic>
          <a:graphicData uri="http://schemas.openxmlformats.org/presentationml/2006/ole">
            <p:oleObj imgW="7035800" imgH="82931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055638" y="838200"/>
            <a:ext cx="16203662" cy="1423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40"/>
              </a:lnSpc>
            </a:pPr>
            <a:r>
              <a:rPr lang="en-US" sz="81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Kabul / Red / Hata / İptal Durumları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423794"/>
            <a:ext cx="16623590" cy="7646851"/>
          </a:xfrm>
          <a:custGeom>
            <a:avLst/>
            <a:gdLst/>
            <a:ahLst/>
            <a:cxnLst/>
            <a:rect r="r" b="b" t="t" l="l"/>
            <a:pathLst>
              <a:path h="7646851" w="16623590">
                <a:moveTo>
                  <a:pt x="0" y="0"/>
                </a:moveTo>
                <a:lnTo>
                  <a:pt x="16623590" y="0"/>
                </a:lnTo>
                <a:lnTo>
                  <a:pt x="16623590" y="7646852"/>
                </a:lnTo>
                <a:lnTo>
                  <a:pt x="0" y="76468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800100"/>
            <a:ext cx="12135892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Genel Sistem Diyagramı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800100"/>
            <a:ext cx="12332047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Genel Sistem Açıklaması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386835"/>
            <a:ext cx="16230600" cy="3947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20417" indent="-410209" lvl="1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Başlangıç durumu q0, bitiş (kabul) durumu q27'dir</a:t>
            </a:r>
          </a:p>
          <a:p>
            <a:pPr algn="l" marL="820417" indent="-410209" lvl="1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Kimlik doğrulama tamamlandığında sistem q6 üzerinden işlem seçimine geçer</a:t>
            </a:r>
          </a:p>
          <a:p>
            <a:pPr algn="l" marL="820417" indent="-410209" lvl="1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Her işlem tamamlandığında q26 üzerinden oturum yönetimine geçilir</a:t>
            </a:r>
          </a:p>
          <a:p>
            <a:pPr algn="l" marL="820417" indent="-410209" lvl="1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Alt otomatalar birbirine q6, q7 ve q26 durumları üzerinden bağlanmaktadır</a:t>
            </a:r>
          </a:p>
          <a:p>
            <a:pPr algn="l" marL="820417" indent="-410209" lvl="1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Zaman aşımı durumunda sistem q28 üzerinden otomatik olarak q0'a döner</a:t>
            </a:r>
          </a:p>
          <a:p>
            <a:pPr algn="ctr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377458" y="2856035"/>
          <a:ext cx="7543800" cy="4400550"/>
        </p:xfrm>
        <a:graphic>
          <a:graphicData uri="http://schemas.openxmlformats.org/presentationml/2006/ole">
            <p:oleObj imgW="9042400" imgH="5905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028700" y="800100"/>
            <a:ext cx="13303002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Alt Otomata Diyagramları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658918" y="3534728"/>
            <a:ext cx="5231371" cy="419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Her alt otomata kend</a:t>
            </a: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 durumları ve geçiş fonksiyonu ile bağımsız olarak tanımlanmış olup birbirine q6, q7 ve q26 durumları üzerinden bağlanmaktadır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800100"/>
            <a:ext cx="13036004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NFA → DFA Dönüşümleri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623859"/>
            <a:ext cx="14632632" cy="3599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Kiml</a:t>
            </a: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 Doğrulama: NFA → DFA dönüşümü uygulandı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İşlem Seçimi: NFA → DFA dönüşümü uygulandı (q6→q7 ε-geçiş)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Oturum Yönetimi: NFA → DFA dönüşümü uygulandı (q28→q0 ε-geçiş)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Transfer: ε-NFA → NFA → DFA dönüşüm zinciri uygulandı (q21→q22 ε-geçiş)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Alt küme inşası (subset construction) yöntemi kullanılmıştır</a:t>
            </a: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20932" y="2423794"/>
            <a:ext cx="9851540" cy="3521925"/>
          </a:xfrm>
          <a:custGeom>
            <a:avLst/>
            <a:gdLst/>
            <a:ahLst/>
            <a:cxnLst/>
            <a:rect r="r" b="b" t="t" l="l"/>
            <a:pathLst>
              <a:path h="3521925" w="9851540">
                <a:moveTo>
                  <a:pt x="0" y="0"/>
                </a:moveTo>
                <a:lnTo>
                  <a:pt x="9851540" y="0"/>
                </a:lnTo>
                <a:lnTo>
                  <a:pt x="9851540" y="3521926"/>
                </a:lnTo>
                <a:lnTo>
                  <a:pt x="0" y="35219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620932" y="5945720"/>
            <a:ext cx="9851540" cy="3312580"/>
          </a:xfrm>
          <a:custGeom>
            <a:avLst/>
            <a:gdLst/>
            <a:ahLst/>
            <a:cxnLst/>
            <a:rect r="r" b="b" t="t" l="l"/>
            <a:pathLst>
              <a:path h="3312580" w="9851540">
                <a:moveTo>
                  <a:pt x="0" y="0"/>
                </a:moveTo>
                <a:lnTo>
                  <a:pt x="9851540" y="0"/>
                </a:lnTo>
                <a:lnTo>
                  <a:pt x="9851540" y="3312580"/>
                </a:lnTo>
                <a:lnTo>
                  <a:pt x="0" y="3312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00100"/>
            <a:ext cx="14754374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Kimlik Doğrulama NFA-DFA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822224" y="4099032"/>
            <a:ext cx="4021782" cy="599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Kimlik Doğrulam NFA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996422" y="7259427"/>
            <a:ext cx="4021782" cy="599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Kimlik Doğrulam DFA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423794"/>
            <a:ext cx="8187995" cy="5926061"/>
          </a:xfrm>
          <a:custGeom>
            <a:avLst/>
            <a:gdLst/>
            <a:ahLst/>
            <a:cxnLst/>
            <a:rect r="r" b="b" t="t" l="l"/>
            <a:pathLst>
              <a:path h="5926061" w="8187995">
                <a:moveTo>
                  <a:pt x="0" y="0"/>
                </a:moveTo>
                <a:lnTo>
                  <a:pt x="8187995" y="0"/>
                </a:lnTo>
                <a:lnTo>
                  <a:pt x="8187995" y="5926062"/>
                </a:lnTo>
                <a:lnTo>
                  <a:pt x="0" y="59260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216695" y="2423794"/>
            <a:ext cx="7869754" cy="5926061"/>
          </a:xfrm>
          <a:custGeom>
            <a:avLst/>
            <a:gdLst/>
            <a:ahLst/>
            <a:cxnLst/>
            <a:rect r="r" b="b" t="t" l="l"/>
            <a:pathLst>
              <a:path h="5926061" w="7869754">
                <a:moveTo>
                  <a:pt x="0" y="0"/>
                </a:moveTo>
                <a:lnTo>
                  <a:pt x="7869754" y="0"/>
                </a:lnTo>
                <a:lnTo>
                  <a:pt x="7869754" y="5926062"/>
                </a:lnTo>
                <a:lnTo>
                  <a:pt x="0" y="59260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4862" r="0" b="-4862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00100"/>
            <a:ext cx="12162016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İşlem Seçimi NFA-DFA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162016" y="8264131"/>
            <a:ext cx="3206055" cy="599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İşlem Seçimi DFA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892525" y="8264131"/>
            <a:ext cx="3206055" cy="599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İşlem Seçimi NFA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423794"/>
            <a:ext cx="9870850" cy="4043314"/>
          </a:xfrm>
          <a:custGeom>
            <a:avLst/>
            <a:gdLst/>
            <a:ahLst/>
            <a:cxnLst/>
            <a:rect r="r" b="b" t="t" l="l"/>
            <a:pathLst>
              <a:path h="4043314" w="9870850">
                <a:moveTo>
                  <a:pt x="0" y="0"/>
                </a:moveTo>
                <a:lnTo>
                  <a:pt x="9870850" y="0"/>
                </a:lnTo>
                <a:lnTo>
                  <a:pt x="9870850" y="4043315"/>
                </a:lnTo>
                <a:lnTo>
                  <a:pt x="0" y="40433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570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6467109"/>
            <a:ext cx="9870850" cy="2791191"/>
          </a:xfrm>
          <a:custGeom>
            <a:avLst/>
            <a:gdLst/>
            <a:ahLst/>
            <a:cxnLst/>
            <a:rect r="r" b="b" t="t" l="l"/>
            <a:pathLst>
              <a:path h="2791191" w="9870850">
                <a:moveTo>
                  <a:pt x="0" y="0"/>
                </a:moveTo>
                <a:lnTo>
                  <a:pt x="9870850" y="0"/>
                </a:lnTo>
                <a:lnTo>
                  <a:pt x="9870850" y="2791191"/>
                </a:lnTo>
                <a:lnTo>
                  <a:pt x="0" y="27911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5708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00100"/>
            <a:ext cx="14547800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Oturum Yönetimi NFA- DFA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030596" y="7263264"/>
            <a:ext cx="3885754" cy="599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Oturum Yönetim DFA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030596" y="4544060"/>
            <a:ext cx="3885754" cy="599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Oturum Yönetim NFA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423794"/>
            <a:ext cx="10454311" cy="3711280"/>
          </a:xfrm>
          <a:custGeom>
            <a:avLst/>
            <a:gdLst/>
            <a:ahLst/>
            <a:cxnLst/>
            <a:rect r="r" b="b" t="t" l="l"/>
            <a:pathLst>
              <a:path h="3711280" w="10454311">
                <a:moveTo>
                  <a:pt x="0" y="0"/>
                </a:moveTo>
                <a:lnTo>
                  <a:pt x="10454311" y="0"/>
                </a:lnTo>
                <a:lnTo>
                  <a:pt x="10454311" y="3711281"/>
                </a:lnTo>
                <a:lnTo>
                  <a:pt x="0" y="37112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6135075"/>
            <a:ext cx="10454311" cy="3123225"/>
          </a:xfrm>
          <a:custGeom>
            <a:avLst/>
            <a:gdLst/>
            <a:ahLst/>
            <a:cxnLst/>
            <a:rect r="r" b="b" t="t" l="l"/>
            <a:pathLst>
              <a:path h="3123225" w="10454311">
                <a:moveTo>
                  <a:pt x="0" y="0"/>
                </a:moveTo>
                <a:lnTo>
                  <a:pt x="10454311" y="0"/>
                </a:lnTo>
                <a:lnTo>
                  <a:pt x="10454311" y="3123225"/>
                </a:lnTo>
                <a:lnTo>
                  <a:pt x="0" y="31232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00100"/>
            <a:ext cx="11022806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Transfer ε-NFA - DFA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011147" y="4544060"/>
            <a:ext cx="2796183" cy="599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Transfer ε-NFA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173742" y="7097247"/>
            <a:ext cx="2470993" cy="599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Transfer DFA 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589555"/>
            <a:ext cx="10138065" cy="3408924"/>
          </a:xfrm>
          <a:custGeom>
            <a:avLst/>
            <a:gdLst/>
            <a:ahLst/>
            <a:cxnLst/>
            <a:rect r="r" b="b" t="t" l="l"/>
            <a:pathLst>
              <a:path h="3408924" w="10138065">
                <a:moveTo>
                  <a:pt x="0" y="0"/>
                </a:moveTo>
                <a:lnTo>
                  <a:pt x="10138065" y="0"/>
                </a:lnTo>
                <a:lnTo>
                  <a:pt x="10138065" y="3408924"/>
                </a:lnTo>
                <a:lnTo>
                  <a:pt x="0" y="34089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427715" y="2589555"/>
            <a:ext cx="6375485" cy="5267745"/>
          </a:xfrm>
          <a:custGeom>
            <a:avLst/>
            <a:gdLst/>
            <a:ahLst/>
            <a:cxnLst/>
            <a:rect r="r" b="b" t="t" l="l"/>
            <a:pathLst>
              <a:path h="5267745" w="6375485">
                <a:moveTo>
                  <a:pt x="0" y="0"/>
                </a:moveTo>
                <a:lnTo>
                  <a:pt x="6375485" y="0"/>
                </a:lnTo>
                <a:lnTo>
                  <a:pt x="6375485" y="5267744"/>
                </a:lnTo>
                <a:lnTo>
                  <a:pt x="0" y="52677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38200"/>
            <a:ext cx="16230600" cy="1406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true">
                <a:solidFill>
                  <a:srgbClr val="3D2917"/>
                </a:solidFill>
                <a:latin typeface="Arimo Bold"/>
                <a:ea typeface="Arimo Bold"/>
                <a:cs typeface="Arimo Bold"/>
                <a:sym typeface="Arimo Bold"/>
              </a:rPr>
              <a:t>Kiml</a:t>
            </a:r>
            <a:r>
              <a:rPr lang="en-US" b="true" sz="8000">
                <a:solidFill>
                  <a:srgbClr val="3D2917"/>
                </a:solidFill>
                <a:latin typeface="Arimo Bold"/>
                <a:ea typeface="Arimo Bold"/>
                <a:cs typeface="Arimo Bold"/>
                <a:sym typeface="Arimo Bold"/>
              </a:rPr>
              <a:t>ik Doğrulama &amp; İşlem Seçimi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5912754"/>
            <a:ext cx="5627682" cy="1199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</a:t>
            </a: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imlik Doğrulama dfa          q0–q6, 3 PIN denemesi hakkı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427715" y="7771574"/>
            <a:ext cx="5627682" cy="1799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İşlem Seç</a:t>
            </a: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imi dfa               q6→q7 ε-geçiş, 4 işlem seçeneği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423794"/>
            <a:ext cx="11240781" cy="4161693"/>
          </a:xfrm>
          <a:custGeom>
            <a:avLst/>
            <a:gdLst/>
            <a:ahLst/>
            <a:cxnLst/>
            <a:rect r="r" b="b" t="t" l="l"/>
            <a:pathLst>
              <a:path h="4161693" w="11240781">
                <a:moveTo>
                  <a:pt x="0" y="0"/>
                </a:moveTo>
                <a:lnTo>
                  <a:pt x="11240781" y="0"/>
                </a:lnTo>
                <a:lnTo>
                  <a:pt x="11240781" y="4161693"/>
                </a:lnTo>
                <a:lnTo>
                  <a:pt x="0" y="41616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81" t="-10056" r="0" b="-1005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6727329"/>
            <a:ext cx="11240781" cy="3517517"/>
          </a:xfrm>
          <a:custGeom>
            <a:avLst/>
            <a:gdLst/>
            <a:ahLst/>
            <a:cxnLst/>
            <a:rect r="r" b="b" t="t" l="l"/>
            <a:pathLst>
              <a:path h="3517517" w="11240781">
                <a:moveTo>
                  <a:pt x="0" y="0"/>
                </a:moveTo>
                <a:lnTo>
                  <a:pt x="11240781" y="0"/>
                </a:lnTo>
                <a:lnTo>
                  <a:pt x="11240781" y="3517517"/>
                </a:lnTo>
                <a:lnTo>
                  <a:pt x="0" y="3517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538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00100"/>
            <a:ext cx="14491395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Para Çekme &amp; Para Yatırma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602800" y="3261946"/>
            <a:ext cx="4199062" cy="1799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</a:t>
            </a: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 Çekme dfa      Tutar, bakiye ve limit kontrolü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929453" y="6858635"/>
            <a:ext cx="4199062" cy="1799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</a:t>
            </a: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 Yatırma dfa     Nakit yatırma, sayma ve onay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648871"/>
            <a:ext cx="11301259" cy="3376251"/>
          </a:xfrm>
          <a:custGeom>
            <a:avLst/>
            <a:gdLst/>
            <a:ahLst/>
            <a:cxnLst/>
            <a:rect r="r" b="b" t="t" l="l"/>
            <a:pathLst>
              <a:path h="3376251" w="11301259">
                <a:moveTo>
                  <a:pt x="0" y="0"/>
                </a:moveTo>
                <a:lnTo>
                  <a:pt x="11301259" y="0"/>
                </a:lnTo>
                <a:lnTo>
                  <a:pt x="11301259" y="3376252"/>
                </a:lnTo>
                <a:lnTo>
                  <a:pt x="0" y="33762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6235213"/>
            <a:ext cx="11301259" cy="3023087"/>
          </a:xfrm>
          <a:custGeom>
            <a:avLst/>
            <a:gdLst/>
            <a:ahLst/>
            <a:cxnLst/>
            <a:rect r="r" b="b" t="t" l="l"/>
            <a:pathLst>
              <a:path h="3023087" w="11301259">
                <a:moveTo>
                  <a:pt x="0" y="0"/>
                </a:moveTo>
                <a:lnTo>
                  <a:pt x="11301259" y="0"/>
                </a:lnTo>
                <a:lnTo>
                  <a:pt x="11301259" y="3023087"/>
                </a:lnTo>
                <a:lnTo>
                  <a:pt x="0" y="3023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00100"/>
            <a:ext cx="14807952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Transfer &amp; Oturum Yönetimi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329959" y="3253304"/>
            <a:ext cx="4929341" cy="1799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</a:t>
            </a: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ransfer dfa                           ε-NFA → DFA dönüşümü, q21→q22 ε-geçiş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329959" y="6804099"/>
            <a:ext cx="4929341" cy="1199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Otu</a:t>
            </a:r>
            <a:r>
              <a:rPr lang="en-US" sz="33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rum Yönetimi dfa Makbuz seçimi, kart iadesi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800100"/>
            <a:ext cx="8167539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Test Senaryoları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851426"/>
            <a:ext cx="12469781" cy="6520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Sistem toplamda 10 farklı senaryo ile test edilmişt</a:t>
            </a: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ir</a:t>
            </a:r>
          </a:p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Test senaryoları; kabul, red, hata ve iptal durumlarını kapsamaktadır</a:t>
            </a:r>
          </a:p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Senaryolar Java simülatörü ile çalıştırılmış, tüm sonuçlar beklenen değerlerle uyumlu bulunmuştur</a:t>
            </a:r>
          </a:p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Test sonuçlarının daha net görülebilmesi için grafiksel kullanıcı arayüzü (GUI) geliştirilmiştir</a:t>
            </a:r>
          </a:p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Arayüz üzerinden hem manuel test hem de hazır senaryolar otomatik olarak çalıştırılabilmektedir</a:t>
            </a:r>
          </a:p>
          <a:p>
            <a:pPr algn="ctr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2669225" y="2815326"/>
          <a:ext cx="7543800" cy="6915150"/>
        </p:xfrm>
        <a:graphic>
          <a:graphicData uri="http://schemas.openxmlformats.org/presentationml/2006/ole">
            <p:oleObj imgW="9042400" imgH="84201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028700" y="800100"/>
            <a:ext cx="7130504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Test Sonuçları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800100"/>
            <a:ext cx="3052167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Sonuç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452370"/>
            <a:ext cx="16230600" cy="7834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ATM sistem</a:t>
            </a: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i, otomata teorisinin gerçek hayattaki en doğal uygulamalarından biridir</a:t>
            </a:r>
          </a:p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Sistemin her an yalnızca tek bir durumda bulunması, aldığı girişe göre deterministik olarak bir sonraki duruma geçmesi ve sonlu sayıda durumdan oluşması DFA'nın tanımıyla birebir örtüşmektedir</a:t>
            </a:r>
          </a:p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Transfer alt sisteminde ε-NFA → NFA → DFA dönüşüm zinciri başarıyla uygulanmıştır</a:t>
            </a:r>
          </a:p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Regular Expression ile tüm sistemin kabul ettiği geçerli giriş dizileri matematiksel olarak ifade edilmiştir</a:t>
            </a:r>
          </a:p>
          <a:p>
            <a:pPr algn="l" marL="798828" indent="-399414" lvl="1">
              <a:lnSpc>
                <a:spcPts val="5179"/>
              </a:lnSpc>
              <a:buFont typeface="Arial"/>
              <a:buChar char="•"/>
            </a:pPr>
            <a:r>
              <a:rPr lang="en-US" sz="3699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 proje otomata teorisinin yalnızca teorik bir konu olmadığını, gerçek dünya sistemlerinin modellenmesinde doğrudan kullanılabildiğini göstermektedir</a:t>
            </a: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2212468" y="3220716"/>
          <a:ext cx="3771900" cy="2514600"/>
        </p:xfrm>
        <a:graphic>
          <a:graphicData uri="http://schemas.openxmlformats.org/presentationml/2006/ole">
            <p:oleObj imgW="4521200" imgH="32639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028700" y="800100"/>
            <a:ext cx="7668964" cy="1623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D291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Görev Dağılımı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6666580">
            <a:off x="9654716" y="2742945"/>
            <a:ext cx="9400422" cy="9722890"/>
          </a:xfrm>
          <a:custGeom>
            <a:avLst/>
            <a:gdLst/>
            <a:ahLst/>
            <a:cxnLst/>
            <a:rect r="r" b="b" t="t" l="l"/>
            <a:pathLst>
              <a:path h="9722890" w="9400422">
                <a:moveTo>
                  <a:pt x="0" y="0"/>
                </a:moveTo>
                <a:lnTo>
                  <a:pt x="9400422" y="0"/>
                </a:lnTo>
                <a:lnTo>
                  <a:pt x="9400422" y="9722890"/>
                </a:lnTo>
                <a:lnTo>
                  <a:pt x="0" y="97228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631316">
            <a:off x="-341565" y="-1602678"/>
            <a:ext cx="8656207" cy="8953145"/>
          </a:xfrm>
          <a:custGeom>
            <a:avLst/>
            <a:gdLst/>
            <a:ahLst/>
            <a:cxnLst/>
            <a:rect r="r" b="b" t="t" l="l"/>
            <a:pathLst>
              <a:path h="8953145" w="8656207">
                <a:moveTo>
                  <a:pt x="0" y="0"/>
                </a:moveTo>
                <a:lnTo>
                  <a:pt x="8656206" y="0"/>
                </a:lnTo>
                <a:lnTo>
                  <a:pt x="8656206" y="8953145"/>
                </a:lnTo>
                <a:lnTo>
                  <a:pt x="0" y="89531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30749" y="1468727"/>
            <a:ext cx="8343860" cy="9123127"/>
          </a:xfrm>
          <a:custGeom>
            <a:avLst/>
            <a:gdLst/>
            <a:ahLst/>
            <a:cxnLst/>
            <a:rect r="r" b="b" t="t" l="l"/>
            <a:pathLst>
              <a:path h="9123127" w="8343860">
                <a:moveTo>
                  <a:pt x="0" y="0"/>
                </a:moveTo>
                <a:lnTo>
                  <a:pt x="8343860" y="0"/>
                </a:lnTo>
                <a:lnTo>
                  <a:pt x="8343860" y="9123127"/>
                </a:lnTo>
                <a:lnTo>
                  <a:pt x="0" y="91231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0800000">
            <a:off x="10613756" y="-239704"/>
            <a:ext cx="7797854" cy="8526128"/>
          </a:xfrm>
          <a:custGeom>
            <a:avLst/>
            <a:gdLst/>
            <a:ahLst/>
            <a:cxnLst/>
            <a:rect r="r" b="b" t="t" l="l"/>
            <a:pathLst>
              <a:path h="8526128" w="7797854">
                <a:moveTo>
                  <a:pt x="0" y="0"/>
                </a:moveTo>
                <a:lnTo>
                  <a:pt x="7797854" y="0"/>
                </a:lnTo>
                <a:lnTo>
                  <a:pt x="7797854" y="8526127"/>
                </a:lnTo>
                <a:lnTo>
                  <a:pt x="0" y="85261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4080932" y="3382292"/>
            <a:ext cx="8091974" cy="664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97"/>
              </a:lnSpc>
            </a:pPr>
            <a:r>
              <a:rPr lang="en-US" b="true" sz="5048" spc="307">
                <a:solidFill>
                  <a:srgbClr val="3D2917"/>
                </a:solidFill>
                <a:latin typeface="Monterchi Serif Bold"/>
                <a:ea typeface="Monterchi Serif Bold"/>
                <a:cs typeface="Monterchi Serif Bold"/>
                <a:sym typeface="Monterchi Serif Bold"/>
              </a:rPr>
              <a:t>DINLEDIĞINIZ IÇIN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78403" y="4275201"/>
            <a:ext cx="14331167" cy="1965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56"/>
              </a:lnSpc>
            </a:pPr>
            <a:r>
              <a:rPr lang="en-US" sz="14400" spc="878">
                <a:solidFill>
                  <a:srgbClr val="3D291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TEŞEKKÜRLER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DAHKkrpNVG8</dc:identifier>
  <dcterms:modified xsi:type="dcterms:W3CDTF">2011-08-01T06:04:30Z</dcterms:modified>
  <cp:revision>1</cp:revision>
  <dc:title>ATM Sistemi Otomata Teorisi ile Modellenmesi</dc:title>
</cp:coreProperties>
</file>