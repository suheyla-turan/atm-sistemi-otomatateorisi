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7559675" cy="10691813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954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0884BCA-D349-4E3D-8C89-429C412B6B7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tr-TR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96F3238-06CB-4E0E-8152-FBA47BF19164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tr-TR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FDBF368-3D10-4F50-B1AC-BCF0CE417D1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tr-TR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3050CE8-EEAE-4986-B2A9-CB82922BF02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tr-T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62C83B7-0C80-433A-ABA5-52F1F4FF3AA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tr-T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C73B17E-9C91-4A73-B1AF-8E76C026259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tr-TR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698F921-A7D2-422A-93AB-73713EDC842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tr-TR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6194335-2072-4183-884F-94D30D93F81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tr-TR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62E1D69-711C-443F-AEC1-00A3580FDBB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tr-T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322C982-5592-4610-A2B1-9F248405B6F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tr-TR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C0CD1AF-B6DB-4C61-845B-BEA8C6788F06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tr-TR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tr-TR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02BECE2-506E-4098-B72A-C5A503C96E43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strike="noStrike" spc="-1"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BA76A50-475A-4625-AE2B-75B433626EBF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tr-TR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tr-TR" sz="1400" b="0" strike="noStrike" spc="-1">
                <a:latin typeface="Times New Roman"/>
              </a:defRPr>
            </a:lvl1pPr>
          </a:lstStyle>
          <a:p>
            <a:pPr indent="0">
              <a:buNone/>
            </a:pPr>
            <a:r>
              <a:rPr lang="tr-TR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tr-TR" sz="4400" b="0" strike="noStrike" spc="-1">
                <a:latin typeface="Arial"/>
              </a:rPr>
              <a:t>Ana başlık metnini düzenlemek için tıklayın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3200" b="0" strike="noStrike" spc="-1">
                <a:latin typeface="Arial"/>
              </a:rPr>
              <a:t>Anahat metninin biçimini düzenlemek için tıklayın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2800" b="0" strike="noStrike" spc="-1">
                <a:latin typeface="Arial"/>
              </a:rPr>
              <a:t>İkinci Anahat Düzeyi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400" b="0" strike="noStrike" spc="-1">
                <a:latin typeface="Arial"/>
              </a:rPr>
              <a:t>Üçüncü Anahat Düzeyi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2000" b="0" strike="noStrike" spc="-1">
                <a:latin typeface="Arial"/>
              </a:rPr>
              <a:t>Dördüncü Anahat Düzeyi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strike="noStrike" spc="-1">
                <a:latin typeface="Arial"/>
              </a:rPr>
              <a:t>Beşinci Anahat Düzeyi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strike="noStrike" spc="-1">
                <a:latin typeface="Arial"/>
              </a:rPr>
              <a:t>Altıncı Anahat Düzeyi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strike="noStrike" spc="-1">
                <a:latin typeface="Arial"/>
              </a:rPr>
              <a:t>Yedinci Anahat Düzeyi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2"/>
          <p:cNvSpPr/>
          <p:nvPr/>
        </p:nvSpPr>
        <p:spPr>
          <a:xfrm rot="14933400">
            <a:off x="9689579" y="-1279699"/>
            <a:ext cx="9399600" cy="9722160"/>
          </a:xfrm>
          <a:custGeom>
            <a:avLst/>
            <a:gdLst>
              <a:gd name="textAreaLeft" fmla="*/ 0 w 9399600"/>
              <a:gd name="textAreaRight" fmla="*/ 9400320 w 9399600"/>
              <a:gd name="textAreaTop" fmla="*/ 0 h 9722160"/>
              <a:gd name="textAreaBottom" fmla="*/ 9722880 h 9722160"/>
            </a:gdLst>
            <a:ahLst/>
            <a:cxnLst/>
            <a:rect l="textAreaLeft" t="textAreaTop" r="textAreaRight" b="textAreaBottom"/>
            <a:pathLst>
              <a:path w="9400422" h="9722890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8000"/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" name="Freeform 3"/>
          <p:cNvSpPr/>
          <p:nvPr/>
        </p:nvSpPr>
        <p:spPr>
          <a:xfrm rot="5631600">
            <a:off x="331716" y="-569978"/>
            <a:ext cx="8655480" cy="8952480"/>
          </a:xfrm>
          <a:custGeom>
            <a:avLst/>
            <a:gdLst>
              <a:gd name="textAreaLeft" fmla="*/ 0 w 8655480"/>
              <a:gd name="textAreaRight" fmla="*/ 8656200 w 8655480"/>
              <a:gd name="textAreaTop" fmla="*/ 0 h 8952480"/>
              <a:gd name="textAreaBottom" fmla="*/ 8953200 h 8952480"/>
            </a:gdLst>
            <a:ahLst/>
            <a:cxnLst/>
            <a:rect l="textAreaLeft" t="textAreaTop" r="textAreaRight" b="textAreaBottom"/>
            <a:pathLst>
              <a:path w="8656207" h="8953145">
                <a:moveTo>
                  <a:pt x="0" y="0"/>
                </a:moveTo>
                <a:lnTo>
                  <a:pt x="8656206" y="0"/>
                </a:lnTo>
                <a:lnTo>
                  <a:pt x="8656206" y="8953145"/>
                </a:lnTo>
                <a:lnTo>
                  <a:pt x="0" y="8953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8000"/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Freeform 4"/>
          <p:cNvSpPr/>
          <p:nvPr/>
        </p:nvSpPr>
        <p:spPr>
          <a:xfrm>
            <a:off x="0" y="1164600"/>
            <a:ext cx="8343000" cy="9122400"/>
          </a:xfrm>
          <a:custGeom>
            <a:avLst/>
            <a:gdLst>
              <a:gd name="textAreaLeft" fmla="*/ 0 w 8343000"/>
              <a:gd name="textAreaRight" fmla="*/ 8343720 w 8343000"/>
              <a:gd name="textAreaTop" fmla="*/ 0 h 9122400"/>
              <a:gd name="textAreaBottom" fmla="*/ 9123120 h 9122400"/>
            </a:gdLst>
            <a:ahLst/>
            <a:cxnLst/>
            <a:rect l="textAreaLeft" t="textAreaTop" r="textAreaRight" b="textAreaBottom"/>
            <a:pathLst>
              <a:path w="8343860" h="9123127">
                <a:moveTo>
                  <a:pt x="0" y="0"/>
                </a:moveTo>
                <a:lnTo>
                  <a:pt x="8343860" y="0"/>
                </a:lnTo>
                <a:lnTo>
                  <a:pt x="8343860" y="9123127"/>
                </a:lnTo>
                <a:lnTo>
                  <a:pt x="0" y="912312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" name="Freeform 5"/>
          <p:cNvSpPr/>
          <p:nvPr/>
        </p:nvSpPr>
        <p:spPr>
          <a:xfrm rot="10800000">
            <a:off x="0" y="1727520"/>
            <a:ext cx="7797240" cy="8525520"/>
          </a:xfrm>
          <a:custGeom>
            <a:avLst/>
            <a:gdLst>
              <a:gd name="textAreaLeft" fmla="*/ 0 w 7797240"/>
              <a:gd name="textAreaRight" fmla="*/ 7797960 w 7797240"/>
              <a:gd name="textAreaTop" fmla="*/ 0 h 8525520"/>
              <a:gd name="textAreaBottom" fmla="*/ 8526240 h 8525520"/>
            </a:gdLst>
            <a:ahLst/>
            <a:cxnLst/>
            <a:rect l="textAreaLeft" t="textAreaTop" r="textAreaRight" b="textAreaBottom"/>
            <a:pathLst>
              <a:path w="7797854" h="8526128">
                <a:moveTo>
                  <a:pt x="0" y="0"/>
                </a:moveTo>
                <a:lnTo>
                  <a:pt x="7797854" y="0"/>
                </a:lnTo>
                <a:lnTo>
                  <a:pt x="7797854" y="8526127"/>
                </a:lnTo>
                <a:lnTo>
                  <a:pt x="0" y="852612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TextBox 6"/>
          <p:cNvSpPr/>
          <p:nvPr/>
        </p:nvSpPr>
        <p:spPr>
          <a:xfrm>
            <a:off x="680400" y="2735640"/>
            <a:ext cx="16926480" cy="394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0366"/>
              </a:lnSpc>
              <a:tabLst>
                <a:tab pos="0" algn="l"/>
              </a:tabLst>
            </a:pPr>
            <a:r>
              <a:rPr lang="en-US" sz="7400" b="0" strike="noStrike" spc="2668" dirty="0">
                <a:solidFill>
                  <a:srgbClr val="3D2917"/>
                </a:solidFill>
                <a:latin typeface="Times New Roman"/>
                <a:ea typeface="Times New Roman"/>
              </a:rPr>
              <a:t>ATM SİSTEMİ OTOMATA TEORİSİ   İLE MODELLENMESİ</a:t>
            </a:r>
            <a:endParaRPr lang="tr-TR" sz="7400" b="0" strike="noStrike" spc="-1" dirty="0">
              <a:latin typeface="Arial"/>
            </a:endParaRPr>
          </a:p>
        </p:txBody>
      </p:sp>
      <p:sp>
        <p:nvSpPr>
          <p:cNvPr id="46" name="TextBox 7"/>
          <p:cNvSpPr/>
          <p:nvPr/>
        </p:nvSpPr>
        <p:spPr>
          <a:xfrm>
            <a:off x="8993880" y="8009640"/>
            <a:ext cx="8646120" cy="215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>
              <a:lnSpc>
                <a:spcPts val="5666"/>
              </a:lnSpc>
            </a:pPr>
            <a:r>
              <a:rPr lang="en-US" sz="4050" b="0" strike="noStrike" spc="83">
                <a:solidFill>
                  <a:srgbClr val="3D2917"/>
                </a:solidFill>
                <a:latin typeface="Source Serif Pro"/>
                <a:ea typeface="Source Serif Pro"/>
              </a:rPr>
              <a:t>Ceren Mutlu</a:t>
            </a:r>
            <a:endParaRPr lang="tr-TR" sz="4050" b="0" strike="noStrike" spc="-1">
              <a:latin typeface="Arial"/>
            </a:endParaRPr>
          </a:p>
          <a:p>
            <a:pPr algn="r">
              <a:lnSpc>
                <a:spcPts val="5666"/>
              </a:lnSpc>
            </a:pPr>
            <a:r>
              <a:rPr lang="en-US" sz="4050" b="0" strike="noStrike" spc="83">
                <a:solidFill>
                  <a:srgbClr val="3D2917"/>
                </a:solidFill>
                <a:latin typeface="Source Serif Pro"/>
                <a:ea typeface="Source Serif Pro"/>
              </a:rPr>
              <a:t>Ceyda Ankara</a:t>
            </a:r>
            <a:endParaRPr lang="tr-TR" sz="4050" b="0" strike="noStrike" spc="-1">
              <a:latin typeface="Arial"/>
            </a:endParaRPr>
          </a:p>
          <a:p>
            <a:pPr algn="r">
              <a:lnSpc>
                <a:spcPts val="5666"/>
              </a:lnSpc>
              <a:tabLst>
                <a:tab pos="0" algn="l"/>
              </a:tabLst>
            </a:pPr>
            <a:r>
              <a:rPr lang="en-US" sz="4050" b="0" strike="noStrike" spc="83">
                <a:solidFill>
                  <a:srgbClr val="3D2917"/>
                </a:solidFill>
                <a:latin typeface="Source Serif Pro"/>
                <a:ea typeface="Source Serif Pro"/>
              </a:rPr>
              <a:t>Süheyla Melike Turan</a:t>
            </a:r>
            <a:endParaRPr lang="tr-TR" sz="4050" b="0" strike="noStrike" spc="-1">
              <a:latin typeface="Arial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B88C23E-6C7D-8EF3-B3C8-2B2BED2081DF}"/>
              </a:ext>
            </a:extLst>
          </p:cNvPr>
          <p:cNvSpPr txBox="1"/>
          <p:nvPr/>
        </p:nvSpPr>
        <p:spPr>
          <a:xfrm>
            <a:off x="5070231" y="3777734"/>
            <a:ext cx="10374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2"/>
          <p:cNvSpPr/>
          <p:nvPr/>
        </p:nvSpPr>
        <p:spPr>
          <a:xfrm>
            <a:off x="1337040" y="800280"/>
            <a:ext cx="1126260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Problem Tanımı</a:t>
            </a:r>
            <a:endParaRPr lang="tr-TR" sz="9200" b="0" strike="noStrike" spc="-1">
              <a:latin typeface="Arial"/>
            </a:endParaRPr>
          </a:p>
        </p:txBody>
      </p:sp>
      <p:sp>
        <p:nvSpPr>
          <p:cNvPr id="48" name="TextBox 3"/>
          <p:cNvSpPr/>
          <p:nvPr/>
        </p:nvSpPr>
        <p:spPr>
          <a:xfrm>
            <a:off x="0" y="2873160"/>
            <a:ext cx="18287280" cy="591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Günümüzde bankacılık işlemlerinin büyük bir kısmı ATM'ler aracılığıyla gerçekleştirilmektedir</a:t>
            </a:r>
            <a:endParaRPr lang="tr-TR" sz="3700" b="0" strike="noStrike" spc="-1">
              <a:latin typeface="Arial"/>
            </a:endParaRPr>
          </a:p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Bu projede bir ATM sisteminin işleyişi otomata teorisi kullanılarak modellenmiştir</a:t>
            </a:r>
            <a:endParaRPr lang="tr-TR" sz="3700" b="0" strike="noStrike" spc="-1">
              <a:latin typeface="Arial"/>
            </a:endParaRPr>
          </a:p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Sistem; kimlik doğrulama, işlem seçimi, para çekme, para yatırma, transfer ve oturum yönetimi olmak üzere 6 alt süreçten oluşmaktadır</a:t>
            </a:r>
            <a:endParaRPr lang="tr-TR" sz="3700" b="0" strike="noStrike" spc="-1">
              <a:latin typeface="Arial"/>
            </a:endParaRPr>
          </a:p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Kullanıcının kartını takmasıyla başlayan ve kartını geri almasıyla sonlanan bu süreç boyunca hatalı PIN girişi, yetersiz bakiye, limit aşımı ve zaman aşımı gibi durumlar da sistem tarafından yönetilmektedir</a:t>
            </a:r>
            <a:endParaRPr lang="tr-TR" sz="3700" b="0" strike="noStrike" spc="-1">
              <a:latin typeface="Arial"/>
            </a:endParaRPr>
          </a:p>
          <a:p>
            <a:pPr>
              <a:lnSpc>
                <a:spcPts val="5179"/>
              </a:lnSpc>
            </a:pPr>
            <a:endParaRPr lang="tr-T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2"/>
          <p:cNvSpPr/>
          <p:nvPr/>
        </p:nvSpPr>
        <p:spPr>
          <a:xfrm>
            <a:off x="1028880" y="800280"/>
            <a:ext cx="1409076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Otomata Modeli Seçimi</a:t>
            </a:r>
            <a:endParaRPr lang="tr-TR" sz="9200" b="0" strike="noStrike" spc="-1">
              <a:latin typeface="Arial"/>
            </a:endParaRPr>
          </a:p>
        </p:txBody>
      </p:sp>
      <p:sp>
        <p:nvSpPr>
          <p:cNvPr id="50" name="TextBox 3"/>
          <p:cNvSpPr/>
          <p:nvPr/>
        </p:nvSpPr>
        <p:spPr>
          <a:xfrm>
            <a:off x="1028880" y="3056400"/>
            <a:ext cx="16229880" cy="723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Bu projede yalnızca tek bir otomata modeli kullanmak yerine, her alt sistemin yapısına en uygun model seçilmiş ve modeller arası dönüşümler gerçekleştirilmiştir.</a:t>
            </a:r>
            <a:endParaRPr lang="tr-TR" sz="3700" b="0" strike="noStrike" spc="-1">
              <a:latin typeface="Arial"/>
            </a:endParaRPr>
          </a:p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Kimlik doğrulama, işlem seçimi ve oturum yönetimi alt sistemleri DFA ile modellenmiştir.</a:t>
            </a:r>
            <a:endParaRPr lang="tr-TR" sz="3700" b="0" strike="noStrike" spc="-1">
              <a:latin typeface="Arial"/>
            </a:endParaRPr>
          </a:p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Para çekme ve para yatırma alt sistemleri doğrudan DFA ile modellenmiştir.</a:t>
            </a:r>
            <a:endParaRPr lang="tr-TR" sz="3700" b="0" strike="noStrike" spc="-1">
              <a:latin typeface="Arial"/>
            </a:endParaRPr>
          </a:p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Transfer alt sisteminde ise hesap ve tutar girişi arasında otomatik geçiş gerektiğinden ε-NFA tercih edilmiş, ardından ε-NFA → NFA → DFA dönüşümü gerçekleştirilmiştir.</a:t>
            </a:r>
            <a:endParaRPr lang="tr-TR" sz="3700" b="0" strike="noStrike" spc="-1">
              <a:latin typeface="Arial"/>
            </a:endParaRPr>
          </a:p>
          <a:p>
            <a:pPr>
              <a:lnSpc>
                <a:spcPts val="5179"/>
              </a:lnSpc>
            </a:pPr>
            <a:endParaRPr lang="tr-TR" sz="1800" b="0" strike="noStrike" spc="-1">
              <a:latin typeface="Arial"/>
            </a:endParaRPr>
          </a:p>
          <a:p>
            <a:pPr>
              <a:lnSpc>
                <a:spcPts val="5179"/>
              </a:lnSpc>
            </a:pPr>
            <a:endParaRPr lang="tr-T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2"/>
          <p:cNvSpPr/>
          <p:nvPr/>
        </p:nvSpPr>
        <p:spPr>
          <a:xfrm>
            <a:off x="1028880" y="800280"/>
            <a:ext cx="11419920" cy="32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Alt Otomata Modelleri</a:t>
            </a:r>
            <a:endParaRPr lang="tr-TR" sz="9200" b="0" strike="noStrike" spc="-1">
              <a:latin typeface="Arial"/>
            </a:endParaRPr>
          </a:p>
        </p:txBody>
      </p:sp>
      <p:graphicFrame>
        <p:nvGraphicFramePr>
          <p:cNvPr id="52" name="Table 3"/>
          <p:cNvGraphicFramePr/>
          <p:nvPr/>
        </p:nvGraphicFramePr>
        <p:xfrm>
          <a:off x="2855880" y="2798640"/>
          <a:ext cx="12575880" cy="6816960"/>
        </p:xfrm>
        <a:graphic>
          <a:graphicData uri="http://schemas.openxmlformats.org/drawingml/2006/table">
            <a:tbl>
              <a:tblPr/>
              <a:tblGrid>
                <a:gridCol w="628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3800">
                <a:tc>
                  <a:txBody>
                    <a:bodyPr/>
                    <a:lstStyle/>
                    <a:p>
                      <a:pPr>
                        <a:lnSpc>
                          <a:spcPts val="3498"/>
                        </a:lnSpc>
                      </a:pPr>
                      <a:r>
                        <a:rPr lang="en-US" sz="25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Alt Otomata</a:t>
                      </a:r>
                      <a:endParaRPr lang="tr-TR" sz="2500" b="0" strike="noStrike" spc="-1"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</a:lnL>
                    <a:lnR w="9360">
                      <a:solidFill>
                        <a:srgbClr val="D9D9D9"/>
                      </a:solidFill>
                    </a:lnR>
                    <a:lnT w="9360">
                      <a:solidFill>
                        <a:srgbClr val="D9D9D9"/>
                      </a:solidFill>
                    </a:lnT>
                    <a:lnB w="9360">
                      <a:solidFill>
                        <a:srgbClr val="D9D9D9"/>
                      </a:solidFill>
                    </a:lnB>
                    <a:solidFill>
                      <a:srgbClr val="C1B2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498"/>
                        </a:lnSpc>
                      </a:pPr>
                      <a:r>
                        <a:rPr lang="en-US" sz="25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Kullanılan Model</a:t>
                      </a:r>
                      <a:endParaRPr lang="tr-TR" sz="2500" b="0" strike="noStrike" spc="-1"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</a:lnL>
                    <a:lnR w="9360">
                      <a:solidFill>
                        <a:srgbClr val="D9D9D9"/>
                      </a:solidFill>
                    </a:lnR>
                    <a:lnT w="9360">
                      <a:solidFill>
                        <a:srgbClr val="D9D9D9"/>
                      </a:solidFill>
                    </a:lnT>
                    <a:lnB w="9360">
                      <a:solidFill>
                        <a:srgbClr val="D9D9D9"/>
                      </a:solidFill>
                    </a:lnB>
                    <a:solidFill>
                      <a:srgbClr val="C1B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3800">
                <a:tc>
                  <a:txBody>
                    <a:bodyPr/>
                    <a:lstStyle/>
                    <a:p>
                      <a:pPr>
                        <a:lnSpc>
                          <a:spcPts val="3498"/>
                        </a:lnSpc>
                      </a:pPr>
                      <a:r>
                        <a:rPr lang="en-US" sz="25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Kimlik Doğrulama</a:t>
                      </a:r>
                      <a:endParaRPr lang="tr-TR" sz="2500" b="0" strike="noStrike" spc="-1"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</a:lnL>
                    <a:lnR w="9360">
                      <a:solidFill>
                        <a:srgbClr val="D9D9D9"/>
                      </a:solidFill>
                    </a:lnR>
                    <a:lnT w="9360">
                      <a:solidFill>
                        <a:srgbClr val="D9D9D9"/>
                      </a:solidFill>
                    </a:lnT>
                    <a:lnB w="9360">
                      <a:solidFill>
                        <a:srgbClr val="D9D9D9"/>
                      </a:solidFill>
                    </a:lnB>
                    <a:solidFill>
                      <a:srgbClr val="C1B2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498"/>
                        </a:lnSpc>
                      </a:pPr>
                      <a:r>
                        <a:rPr lang="en-US" sz="25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DFA</a:t>
                      </a:r>
                      <a:endParaRPr lang="tr-TR" sz="2500" b="0" strike="noStrike" spc="-1"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</a:lnL>
                    <a:lnR w="9360">
                      <a:solidFill>
                        <a:srgbClr val="D9D9D9"/>
                      </a:solidFill>
                    </a:lnR>
                    <a:lnT w="9360">
                      <a:solidFill>
                        <a:srgbClr val="D9D9D9"/>
                      </a:solidFill>
                    </a:lnT>
                    <a:lnB w="9360">
                      <a:solidFill>
                        <a:srgbClr val="D9D9D9"/>
                      </a:solidFill>
                    </a:lnB>
                    <a:solidFill>
                      <a:srgbClr val="C1B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3800">
                <a:tc>
                  <a:txBody>
                    <a:bodyPr/>
                    <a:lstStyle/>
                    <a:p>
                      <a:pPr>
                        <a:lnSpc>
                          <a:spcPts val="3498"/>
                        </a:lnSpc>
                      </a:pPr>
                      <a:r>
                        <a:rPr lang="en-US" sz="25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İşlem Seçimi</a:t>
                      </a:r>
                      <a:endParaRPr lang="tr-TR" sz="2500" b="0" strike="noStrike" spc="-1"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</a:lnL>
                    <a:lnR w="9360">
                      <a:solidFill>
                        <a:srgbClr val="D9D9D9"/>
                      </a:solidFill>
                    </a:lnR>
                    <a:lnT w="9360">
                      <a:solidFill>
                        <a:srgbClr val="D9D9D9"/>
                      </a:solidFill>
                    </a:lnT>
                    <a:lnB w="9360">
                      <a:solidFill>
                        <a:srgbClr val="D9D9D9"/>
                      </a:solidFill>
                    </a:lnB>
                    <a:solidFill>
                      <a:srgbClr val="C1B2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498"/>
                        </a:lnSpc>
                      </a:pPr>
                      <a:r>
                        <a:rPr lang="en-US" sz="25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DFA</a:t>
                      </a:r>
                      <a:endParaRPr lang="tr-TR" sz="2500" b="0" strike="noStrike" spc="-1"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</a:lnL>
                    <a:lnR w="9360">
                      <a:solidFill>
                        <a:srgbClr val="D9D9D9"/>
                      </a:solidFill>
                    </a:lnR>
                    <a:lnT w="9360">
                      <a:solidFill>
                        <a:srgbClr val="D9D9D9"/>
                      </a:solidFill>
                    </a:lnT>
                    <a:lnB w="9360">
                      <a:solidFill>
                        <a:srgbClr val="D9D9D9"/>
                      </a:solidFill>
                    </a:lnB>
                    <a:solidFill>
                      <a:srgbClr val="C1B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3800">
                <a:tc>
                  <a:txBody>
                    <a:bodyPr/>
                    <a:lstStyle/>
                    <a:p>
                      <a:pPr>
                        <a:lnSpc>
                          <a:spcPts val="3498"/>
                        </a:lnSpc>
                      </a:pPr>
                      <a:r>
                        <a:rPr lang="en-US" sz="25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Para Çekme</a:t>
                      </a:r>
                      <a:endParaRPr lang="tr-TR" sz="2500" b="0" strike="noStrike" spc="-1"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</a:lnL>
                    <a:lnR w="9360">
                      <a:solidFill>
                        <a:srgbClr val="D9D9D9"/>
                      </a:solidFill>
                    </a:lnR>
                    <a:lnT w="9360">
                      <a:solidFill>
                        <a:srgbClr val="D9D9D9"/>
                      </a:solidFill>
                    </a:lnT>
                    <a:lnB w="9360">
                      <a:solidFill>
                        <a:srgbClr val="D9D9D9"/>
                      </a:solidFill>
                    </a:lnB>
                    <a:solidFill>
                      <a:srgbClr val="C1B2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498"/>
                        </a:lnSpc>
                      </a:pPr>
                      <a:r>
                        <a:rPr lang="en-US" sz="25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DFA</a:t>
                      </a:r>
                      <a:endParaRPr lang="tr-TR" sz="2500" b="0" strike="noStrike" spc="-1"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</a:lnL>
                    <a:lnR w="9360">
                      <a:solidFill>
                        <a:srgbClr val="D9D9D9"/>
                      </a:solidFill>
                    </a:lnR>
                    <a:lnT w="9360">
                      <a:solidFill>
                        <a:srgbClr val="D9D9D9"/>
                      </a:solidFill>
                    </a:lnT>
                    <a:lnB w="9360">
                      <a:solidFill>
                        <a:srgbClr val="D9D9D9"/>
                      </a:solidFill>
                    </a:lnB>
                    <a:solidFill>
                      <a:srgbClr val="C1B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3800">
                <a:tc>
                  <a:txBody>
                    <a:bodyPr/>
                    <a:lstStyle/>
                    <a:p>
                      <a:pPr>
                        <a:lnSpc>
                          <a:spcPts val="3498"/>
                        </a:lnSpc>
                      </a:pPr>
                      <a:r>
                        <a:rPr lang="en-US" sz="25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Para Yatırma</a:t>
                      </a:r>
                      <a:endParaRPr lang="tr-TR" sz="2500" b="0" strike="noStrike" spc="-1"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</a:lnL>
                    <a:lnR w="9360">
                      <a:solidFill>
                        <a:srgbClr val="D9D9D9"/>
                      </a:solidFill>
                    </a:lnR>
                    <a:lnT w="9360">
                      <a:solidFill>
                        <a:srgbClr val="D9D9D9"/>
                      </a:solidFill>
                    </a:lnT>
                    <a:lnB w="9360">
                      <a:solidFill>
                        <a:srgbClr val="D9D9D9"/>
                      </a:solidFill>
                    </a:lnB>
                    <a:solidFill>
                      <a:srgbClr val="C1B2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498"/>
                        </a:lnSpc>
                      </a:pPr>
                      <a:r>
                        <a:rPr lang="en-US" sz="25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DFA</a:t>
                      </a:r>
                      <a:endParaRPr lang="tr-TR" sz="2500" b="0" strike="noStrike" spc="-1"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</a:lnL>
                    <a:lnR w="9360">
                      <a:solidFill>
                        <a:srgbClr val="D9D9D9"/>
                      </a:solidFill>
                    </a:lnR>
                    <a:lnT w="9360">
                      <a:solidFill>
                        <a:srgbClr val="D9D9D9"/>
                      </a:solidFill>
                    </a:lnT>
                    <a:lnB w="9360">
                      <a:solidFill>
                        <a:srgbClr val="D9D9D9"/>
                      </a:solidFill>
                    </a:lnB>
                    <a:solidFill>
                      <a:srgbClr val="C1B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3800">
                <a:tc>
                  <a:txBody>
                    <a:bodyPr/>
                    <a:lstStyle/>
                    <a:p>
                      <a:pPr>
                        <a:lnSpc>
                          <a:spcPts val="3498"/>
                        </a:lnSpc>
                      </a:pPr>
                      <a:r>
                        <a:rPr lang="en-US" sz="25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Transfer</a:t>
                      </a:r>
                      <a:endParaRPr lang="tr-TR" sz="2500" b="0" strike="noStrike" spc="-1"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</a:lnL>
                    <a:lnR w="9360">
                      <a:solidFill>
                        <a:srgbClr val="D9D9D9"/>
                      </a:solidFill>
                    </a:lnR>
                    <a:lnT w="9360">
                      <a:solidFill>
                        <a:srgbClr val="D9D9D9"/>
                      </a:solidFill>
                    </a:lnT>
                    <a:lnB w="9360">
                      <a:solidFill>
                        <a:srgbClr val="D9D9D9"/>
                      </a:solidFill>
                    </a:lnB>
                    <a:solidFill>
                      <a:srgbClr val="C1B2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498"/>
                        </a:lnSpc>
                      </a:pPr>
                      <a:r>
                        <a:rPr lang="en-US" sz="25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ε-NFA → NFA → DFA</a:t>
                      </a:r>
                      <a:endParaRPr lang="tr-TR" sz="2500" b="0" strike="noStrike" spc="-1"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</a:lnL>
                    <a:lnR w="9360">
                      <a:solidFill>
                        <a:srgbClr val="D9D9D9"/>
                      </a:solidFill>
                    </a:lnR>
                    <a:lnT w="9360">
                      <a:solidFill>
                        <a:srgbClr val="D9D9D9"/>
                      </a:solidFill>
                    </a:lnT>
                    <a:lnB w="9360">
                      <a:solidFill>
                        <a:srgbClr val="D9D9D9"/>
                      </a:solidFill>
                    </a:lnB>
                    <a:solidFill>
                      <a:srgbClr val="C1B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4160">
                <a:tc>
                  <a:txBody>
                    <a:bodyPr/>
                    <a:lstStyle/>
                    <a:p>
                      <a:pPr>
                        <a:lnSpc>
                          <a:spcPts val="3498"/>
                        </a:lnSpc>
                      </a:pPr>
                      <a:r>
                        <a:rPr lang="en-US" sz="25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Oturum Yönetimi</a:t>
                      </a:r>
                      <a:endParaRPr lang="tr-TR" sz="2500" b="0" strike="noStrike" spc="-1"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</a:lnL>
                    <a:lnR w="9360">
                      <a:solidFill>
                        <a:srgbClr val="D9D9D9"/>
                      </a:solidFill>
                    </a:lnR>
                    <a:lnT w="9360">
                      <a:solidFill>
                        <a:srgbClr val="D9D9D9"/>
                      </a:solidFill>
                    </a:lnT>
                    <a:lnB w="9360">
                      <a:solidFill>
                        <a:srgbClr val="D9D9D9"/>
                      </a:solidFill>
                    </a:lnB>
                    <a:solidFill>
                      <a:srgbClr val="C1B2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3498"/>
                        </a:lnSpc>
                      </a:pPr>
                      <a:r>
                        <a:rPr lang="en-US" sz="2500" b="0" strike="noStrike" spc="-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DFA</a:t>
                      </a:r>
                      <a:endParaRPr lang="tr-TR" sz="2500" b="0" strike="noStrike" spc="-1">
                        <a:latin typeface="Arial"/>
                      </a:endParaRPr>
                    </a:p>
                  </a:txBody>
                  <a:tcPr marL="75960" marR="75960" anchor="ctr">
                    <a:lnL w="9360">
                      <a:solidFill>
                        <a:srgbClr val="D9D9D9"/>
                      </a:solidFill>
                    </a:lnL>
                    <a:lnR w="9360">
                      <a:solidFill>
                        <a:srgbClr val="D9D9D9"/>
                      </a:solidFill>
                    </a:lnR>
                    <a:lnT w="9360">
                      <a:solidFill>
                        <a:srgbClr val="D9D9D9"/>
                      </a:solidFill>
                    </a:lnT>
                    <a:lnB w="9360">
                      <a:solidFill>
                        <a:srgbClr val="D9D9D9"/>
                      </a:solidFill>
                    </a:lnB>
                    <a:solidFill>
                      <a:srgbClr val="C1B2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2"/>
          <p:cNvSpPr/>
          <p:nvPr/>
        </p:nvSpPr>
        <p:spPr>
          <a:xfrm>
            <a:off x="1028880" y="800280"/>
            <a:ext cx="1139076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Sistem Yapısı</a:t>
            </a:r>
            <a:endParaRPr lang="tr-TR" sz="9200" b="0" strike="noStrike" spc="-1">
              <a:latin typeface="Arial"/>
            </a:endParaRPr>
          </a:p>
        </p:txBody>
      </p:sp>
      <p:sp>
        <p:nvSpPr>
          <p:cNvPr id="54" name="TextBox 3"/>
          <p:cNvSpPr/>
          <p:nvPr/>
        </p:nvSpPr>
        <p:spPr>
          <a:xfrm>
            <a:off x="1028880" y="3179880"/>
            <a:ext cx="12578400" cy="543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34040" lvl="1" indent="-367200">
              <a:lnSpc>
                <a:spcPts val="4759"/>
              </a:lnSpc>
              <a:buClr>
                <a:srgbClr val="3D2917"/>
              </a:buClr>
              <a:buFont typeface="Arial"/>
              <a:buChar char="•"/>
            </a:pPr>
            <a:r>
              <a:rPr lang="en-US" sz="3400" b="0" strike="noStrike" spc="-1">
                <a:solidFill>
                  <a:srgbClr val="3D2917"/>
                </a:solidFill>
                <a:latin typeface="Abril Fatface"/>
                <a:ea typeface="Abril Fatface"/>
              </a:rPr>
              <a:t>29 Durum (q0 – q28)</a:t>
            </a:r>
            <a:endParaRPr lang="tr-TR" sz="3400" b="0" strike="noStrike" spc="-1">
              <a:latin typeface="Arial"/>
            </a:endParaRPr>
          </a:p>
          <a:p>
            <a:pPr marL="734040" lvl="1" indent="-367200">
              <a:lnSpc>
                <a:spcPts val="4759"/>
              </a:lnSpc>
              <a:buClr>
                <a:srgbClr val="3D2917"/>
              </a:buClr>
              <a:buFont typeface="Arial"/>
              <a:buChar char="•"/>
            </a:pPr>
            <a:r>
              <a:rPr lang="en-US" sz="3400" b="0" strike="noStrike" spc="-1">
                <a:solidFill>
                  <a:srgbClr val="3D2917"/>
                </a:solidFill>
                <a:latin typeface="Abril Fatface"/>
                <a:ea typeface="Abril Fatface"/>
              </a:rPr>
              <a:t>25 Giriş Sembolü</a:t>
            </a:r>
            <a:endParaRPr lang="tr-TR" sz="3400" b="0" strike="noStrike" spc="-1">
              <a:latin typeface="Arial"/>
            </a:endParaRPr>
          </a:p>
          <a:p>
            <a:pPr marL="734040" lvl="1" indent="-367200">
              <a:lnSpc>
                <a:spcPts val="4759"/>
              </a:lnSpc>
              <a:buClr>
                <a:srgbClr val="3D2917"/>
              </a:buClr>
              <a:buFont typeface="Arial"/>
              <a:buChar char="•"/>
            </a:pPr>
            <a:r>
              <a:rPr lang="en-US" sz="3400" b="0" strike="noStrike" spc="-1">
                <a:solidFill>
                  <a:srgbClr val="3D2917"/>
                </a:solidFill>
                <a:latin typeface="Abril Fatface"/>
                <a:ea typeface="Abril Fatface"/>
              </a:rPr>
              <a:t>6 Alt Otomata</a:t>
            </a:r>
            <a:endParaRPr lang="tr-TR" sz="3400" b="0" strike="noStrike" spc="-1">
              <a:latin typeface="Arial"/>
            </a:endParaRPr>
          </a:p>
          <a:p>
            <a:pPr>
              <a:lnSpc>
                <a:spcPts val="4759"/>
              </a:lnSpc>
            </a:pPr>
            <a:endParaRPr lang="tr-TR" sz="1800" b="0" strike="noStrike" spc="-1">
              <a:latin typeface="Arial"/>
            </a:endParaRPr>
          </a:p>
          <a:p>
            <a:pPr marL="734040" lvl="1" indent="-367200">
              <a:lnSpc>
                <a:spcPts val="4759"/>
              </a:lnSpc>
              <a:buClr>
                <a:srgbClr val="3D2917"/>
              </a:buClr>
              <a:buFont typeface="Arial"/>
              <a:buChar char="•"/>
            </a:pPr>
            <a:r>
              <a:rPr lang="en-US" sz="3400" b="0" strike="noStrike" spc="-1">
                <a:solidFill>
                  <a:srgbClr val="3D2917"/>
                </a:solidFill>
                <a:latin typeface="Abril Fatface"/>
                <a:ea typeface="Abril Fatface"/>
              </a:rPr>
              <a:t>Başlangıç durumu q0 — ATM'nin kart takılmadan bekleme modunda olduğu durum</a:t>
            </a:r>
            <a:endParaRPr lang="tr-TR" sz="3400" b="0" strike="noStrike" spc="-1">
              <a:latin typeface="Arial"/>
            </a:endParaRPr>
          </a:p>
          <a:p>
            <a:pPr marL="734040" lvl="1" indent="-367200">
              <a:lnSpc>
                <a:spcPts val="4759"/>
              </a:lnSpc>
              <a:buClr>
                <a:srgbClr val="3D2917"/>
              </a:buClr>
              <a:buFont typeface="Arial"/>
              <a:buChar char="•"/>
            </a:pPr>
            <a:r>
              <a:rPr lang="en-US" sz="3400" b="0" strike="noStrike" spc="-1">
                <a:solidFill>
                  <a:srgbClr val="3D2917"/>
                </a:solidFill>
                <a:latin typeface="Abril Fatface"/>
                <a:ea typeface="Abril Fatface"/>
              </a:rPr>
              <a:t>Sistem toplam 29 durumdan oluşmakta olup durumlar alt otomatalara göre gruplandırılmıştır</a:t>
            </a:r>
            <a:endParaRPr lang="tr-TR" sz="3400" b="0" strike="noStrike" spc="-1">
              <a:latin typeface="Arial"/>
            </a:endParaRPr>
          </a:p>
          <a:p>
            <a:pPr algn="ctr">
              <a:lnSpc>
                <a:spcPts val="4759"/>
              </a:lnSpc>
            </a:pPr>
            <a:endParaRPr lang="tr-T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3"/>
          <p:cNvSpPr/>
          <p:nvPr/>
        </p:nvSpPr>
        <p:spPr>
          <a:xfrm>
            <a:off x="1055520" y="838080"/>
            <a:ext cx="16944120" cy="144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1341"/>
              </a:lnSpc>
            </a:pPr>
            <a:r>
              <a:rPr lang="en-US" sz="81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Kabul / Red / Hata / İptal Durumları</a:t>
            </a:r>
            <a:endParaRPr lang="tr-TR" sz="8100" b="0" strike="noStrike" spc="-1">
              <a:latin typeface="Arial"/>
            </a:endParaRPr>
          </a:p>
        </p:txBody>
      </p:sp>
      <p:pic>
        <p:nvPicPr>
          <p:cNvPr id="56" name="Resim 55"/>
          <p:cNvPicPr/>
          <p:nvPr/>
        </p:nvPicPr>
        <p:blipFill>
          <a:blip r:embed="rId2"/>
          <a:stretch/>
        </p:blipFill>
        <p:spPr>
          <a:xfrm>
            <a:off x="1980000" y="2520000"/>
            <a:ext cx="14888520" cy="7020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 2"/>
          <p:cNvSpPr/>
          <p:nvPr/>
        </p:nvSpPr>
        <p:spPr>
          <a:xfrm>
            <a:off x="360000" y="1980000"/>
            <a:ext cx="17819640" cy="8306640"/>
          </a:xfrm>
          <a:custGeom>
            <a:avLst/>
            <a:gdLst>
              <a:gd name="textAreaLeft" fmla="*/ 0 w 17819640"/>
              <a:gd name="textAreaRight" fmla="*/ 17820360 w 17819640"/>
              <a:gd name="textAreaTop" fmla="*/ 0 h 8306640"/>
              <a:gd name="textAreaBottom" fmla="*/ 8307360 h 8306640"/>
            </a:gdLst>
            <a:ahLst/>
            <a:cxnLst/>
            <a:rect l="textAreaLeft" t="textAreaTop" r="textAreaRight" b="textAreaBottom"/>
            <a:pathLst>
              <a:path w="16623590" h="7646851">
                <a:moveTo>
                  <a:pt x="0" y="0"/>
                </a:moveTo>
                <a:lnTo>
                  <a:pt x="16623590" y="0"/>
                </a:lnTo>
                <a:lnTo>
                  <a:pt x="16623590" y="7646852"/>
                </a:lnTo>
                <a:lnTo>
                  <a:pt x="0" y="76468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" name="TextBox 3"/>
          <p:cNvSpPr/>
          <p:nvPr/>
        </p:nvSpPr>
        <p:spPr>
          <a:xfrm>
            <a:off x="1028880" y="339840"/>
            <a:ext cx="1499076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Genel Sistem Diyagramı</a:t>
            </a:r>
            <a:endParaRPr lang="tr-TR" sz="9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"/>
          <p:cNvSpPr/>
          <p:nvPr/>
        </p:nvSpPr>
        <p:spPr>
          <a:xfrm>
            <a:off x="1028880" y="800280"/>
            <a:ext cx="1337076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Genel Sistem Açıklaması</a:t>
            </a:r>
            <a:endParaRPr lang="tr-TR" sz="9200" b="0" strike="noStrike" spc="-1">
              <a:latin typeface="Arial"/>
            </a:endParaRPr>
          </a:p>
        </p:txBody>
      </p:sp>
      <p:sp>
        <p:nvSpPr>
          <p:cNvPr id="60" name="TextBox 3"/>
          <p:cNvSpPr/>
          <p:nvPr/>
        </p:nvSpPr>
        <p:spPr>
          <a:xfrm>
            <a:off x="1028880" y="3386880"/>
            <a:ext cx="16229880" cy="398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820440" lvl="1" indent="-410040">
              <a:lnSpc>
                <a:spcPts val="5318"/>
              </a:lnSpc>
              <a:buClr>
                <a:srgbClr val="3D2917"/>
              </a:buClr>
              <a:buFont typeface="Arial"/>
              <a:buChar char="•"/>
            </a:pPr>
            <a:r>
              <a:rPr lang="en-US" sz="38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Başlangıç durumu q0, bitiş (kabul) durumu q27'dir</a:t>
            </a:r>
            <a:endParaRPr lang="tr-TR" sz="3800" b="0" strike="noStrike" spc="-1">
              <a:latin typeface="Arial"/>
            </a:endParaRPr>
          </a:p>
          <a:p>
            <a:pPr marL="820440" lvl="1" indent="-410040">
              <a:lnSpc>
                <a:spcPts val="5318"/>
              </a:lnSpc>
              <a:buClr>
                <a:srgbClr val="3D2917"/>
              </a:buClr>
              <a:buFont typeface="Arial"/>
              <a:buChar char="•"/>
            </a:pPr>
            <a:r>
              <a:rPr lang="en-US" sz="38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Kimlik doğrulama tamamlandığında sistem q6 üzerinden işlem seçimine geçer</a:t>
            </a:r>
            <a:endParaRPr lang="tr-TR" sz="3800" b="0" strike="noStrike" spc="-1">
              <a:latin typeface="Arial"/>
            </a:endParaRPr>
          </a:p>
          <a:p>
            <a:pPr marL="820440" lvl="1" indent="-410040">
              <a:lnSpc>
                <a:spcPts val="5318"/>
              </a:lnSpc>
              <a:buClr>
                <a:srgbClr val="3D2917"/>
              </a:buClr>
              <a:buFont typeface="Arial"/>
              <a:buChar char="•"/>
            </a:pPr>
            <a:r>
              <a:rPr lang="en-US" sz="38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Her işlem tamamlandığında q26 üzerinden oturum yönetimine geçilir</a:t>
            </a:r>
            <a:endParaRPr lang="tr-TR" sz="3800" b="0" strike="noStrike" spc="-1">
              <a:latin typeface="Arial"/>
            </a:endParaRPr>
          </a:p>
          <a:p>
            <a:pPr marL="820440" lvl="1" indent="-410040">
              <a:lnSpc>
                <a:spcPts val="5318"/>
              </a:lnSpc>
              <a:buClr>
                <a:srgbClr val="3D2917"/>
              </a:buClr>
              <a:buFont typeface="Arial"/>
              <a:buChar char="•"/>
            </a:pPr>
            <a:r>
              <a:rPr lang="en-US" sz="38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Alt otomatalar birbirine q6, q7 ve q26 durumları üzerinden bağlanmaktadır</a:t>
            </a:r>
            <a:endParaRPr lang="tr-TR" sz="3800" b="0" strike="noStrike" spc="-1">
              <a:latin typeface="Arial"/>
            </a:endParaRPr>
          </a:p>
          <a:p>
            <a:pPr marL="820440" lvl="1" indent="-410040">
              <a:lnSpc>
                <a:spcPts val="5318"/>
              </a:lnSpc>
              <a:buClr>
                <a:srgbClr val="3D2917"/>
              </a:buClr>
              <a:buFont typeface="Arial"/>
              <a:buChar char="•"/>
            </a:pPr>
            <a:r>
              <a:rPr lang="en-US" sz="38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Zaman aşımı durumunda sistem q28 üzerinden otomatik olarak q0'a döner</a:t>
            </a:r>
            <a:endParaRPr lang="tr-TR" sz="3800" b="0" strike="noStrike" spc="-1">
              <a:latin typeface="Arial"/>
            </a:endParaRPr>
          </a:p>
          <a:p>
            <a:pPr algn="ctr">
              <a:lnSpc>
                <a:spcPts val="4759"/>
              </a:lnSpc>
            </a:pPr>
            <a:endParaRPr lang="tr-T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3"/>
          <p:cNvSpPr/>
          <p:nvPr/>
        </p:nvSpPr>
        <p:spPr>
          <a:xfrm>
            <a:off x="1028880" y="800280"/>
            <a:ext cx="1463076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Alt Otomata Diyagramları</a:t>
            </a:r>
            <a:endParaRPr lang="tr-TR" sz="9200" b="0" strike="noStrike" spc="-1"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10658880" y="3534840"/>
            <a:ext cx="5230800" cy="42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34040" lvl="1" indent="-367200">
              <a:lnSpc>
                <a:spcPts val="4759"/>
              </a:lnSpc>
              <a:buClr>
                <a:srgbClr val="3D2917"/>
              </a:buClr>
              <a:buFont typeface="Arial"/>
              <a:buChar char="•"/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Her alt otomata kendi durumları ve geçiş fonksiyonu ile bağımsız olarak tanımlanmış olup birbirine q6, q7 ve q26 durumları üzerinden bağlanmaktadır</a:t>
            </a:r>
            <a:endParaRPr lang="tr-TR" sz="3400" b="0" strike="noStrike" spc="-1">
              <a:latin typeface="Arial"/>
            </a:endParaRPr>
          </a:p>
        </p:txBody>
      </p:sp>
      <p:pic>
        <p:nvPicPr>
          <p:cNvPr id="63" name="Resim 62"/>
          <p:cNvPicPr/>
          <p:nvPr/>
        </p:nvPicPr>
        <p:blipFill>
          <a:blip r:embed="rId2"/>
          <a:stretch/>
        </p:blipFill>
        <p:spPr>
          <a:xfrm>
            <a:off x="1745640" y="2801880"/>
            <a:ext cx="8874000" cy="6557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028880" y="800280"/>
            <a:ext cx="1499076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NFA→DFA Dönüşümleri</a:t>
            </a:r>
            <a:endParaRPr lang="tr-TR" sz="9200" b="0" strike="noStrike" spc="-1"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1028880" y="3623760"/>
            <a:ext cx="14631840" cy="42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34040" lvl="1" indent="-367200">
              <a:lnSpc>
                <a:spcPts val="4759"/>
              </a:lnSpc>
              <a:buClr>
                <a:srgbClr val="3D2917"/>
              </a:buClr>
              <a:buFont typeface="Arial"/>
              <a:buChar char="•"/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Kimlik Doğrulama: NFA → DFA dönüşümü uygulandı</a:t>
            </a:r>
            <a:endParaRPr lang="tr-TR" sz="3400" b="0" strike="noStrike" spc="-1">
              <a:latin typeface="Arial"/>
            </a:endParaRPr>
          </a:p>
          <a:p>
            <a:pPr marL="734040" lvl="1" indent="-367200">
              <a:lnSpc>
                <a:spcPts val="4759"/>
              </a:lnSpc>
              <a:buClr>
                <a:srgbClr val="3D2917"/>
              </a:buClr>
              <a:buFont typeface="Arial"/>
              <a:buChar char="•"/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İşlem Seçimi: NFA → DFA dönüşümü uygulandı (q6→q7 ε-geçiş)</a:t>
            </a:r>
            <a:endParaRPr lang="tr-TR" sz="3400" b="0" strike="noStrike" spc="-1">
              <a:latin typeface="Arial"/>
            </a:endParaRPr>
          </a:p>
          <a:p>
            <a:pPr marL="734040" lvl="1" indent="-367200">
              <a:lnSpc>
                <a:spcPts val="4759"/>
              </a:lnSpc>
              <a:buClr>
                <a:srgbClr val="3D2917"/>
              </a:buClr>
              <a:buFont typeface="Arial"/>
              <a:buChar char="•"/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Oturum Yönetimi: NFA → DFA dönüşümü uygulandı (q28→q0 ε-geçiş)</a:t>
            </a:r>
            <a:endParaRPr lang="tr-TR" sz="3400" b="0" strike="noStrike" spc="-1">
              <a:latin typeface="Arial"/>
            </a:endParaRPr>
          </a:p>
          <a:p>
            <a:pPr marL="734040" lvl="1" indent="-367200">
              <a:lnSpc>
                <a:spcPts val="4759"/>
              </a:lnSpc>
              <a:buClr>
                <a:srgbClr val="3D2917"/>
              </a:buClr>
              <a:buFont typeface="Arial"/>
              <a:buChar char="•"/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Transfer: ε-NFA → NFA → DFA dönüşüm zinciri uygulandı (q21→q22 ε-geçiş)</a:t>
            </a:r>
            <a:endParaRPr lang="tr-TR" sz="3400" b="0" strike="noStrike" spc="-1">
              <a:latin typeface="Arial"/>
            </a:endParaRPr>
          </a:p>
          <a:p>
            <a:pPr marL="734040" lvl="1" indent="-367200">
              <a:lnSpc>
                <a:spcPts val="4759"/>
              </a:lnSpc>
              <a:buClr>
                <a:srgbClr val="3D2917"/>
              </a:buClr>
              <a:buFont typeface="Arial"/>
              <a:buChar char="•"/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Alt küme inşası (subset construction) yöntemi kullanılmıştır</a:t>
            </a:r>
            <a:endParaRPr lang="tr-TR" sz="3400" b="0" strike="noStrike" spc="-1">
              <a:latin typeface="Arial"/>
            </a:endParaRPr>
          </a:p>
          <a:p>
            <a:pPr>
              <a:lnSpc>
                <a:spcPts val="4759"/>
              </a:lnSpc>
            </a:pPr>
            <a:endParaRPr lang="tr-T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 2"/>
          <p:cNvSpPr/>
          <p:nvPr/>
        </p:nvSpPr>
        <p:spPr>
          <a:xfrm>
            <a:off x="2620800" y="2423880"/>
            <a:ext cx="9850680" cy="3521160"/>
          </a:xfrm>
          <a:custGeom>
            <a:avLst/>
            <a:gdLst>
              <a:gd name="textAreaLeft" fmla="*/ 0 w 9850680"/>
              <a:gd name="textAreaRight" fmla="*/ 9851400 w 9850680"/>
              <a:gd name="textAreaTop" fmla="*/ 0 h 3521160"/>
              <a:gd name="textAreaBottom" fmla="*/ 3521880 h 3521160"/>
            </a:gdLst>
            <a:ahLst/>
            <a:cxnLst/>
            <a:rect l="textAreaLeft" t="textAreaTop" r="textAreaRight" b="textAreaBottom"/>
            <a:pathLst>
              <a:path w="9851540" h="3521925">
                <a:moveTo>
                  <a:pt x="0" y="0"/>
                </a:moveTo>
                <a:lnTo>
                  <a:pt x="9851540" y="0"/>
                </a:lnTo>
                <a:lnTo>
                  <a:pt x="9851540" y="3521926"/>
                </a:lnTo>
                <a:lnTo>
                  <a:pt x="0" y="35219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" name="Freeform 3"/>
          <p:cNvSpPr/>
          <p:nvPr/>
        </p:nvSpPr>
        <p:spPr>
          <a:xfrm>
            <a:off x="2620800" y="5945760"/>
            <a:ext cx="9850680" cy="3312000"/>
          </a:xfrm>
          <a:custGeom>
            <a:avLst/>
            <a:gdLst>
              <a:gd name="textAreaLeft" fmla="*/ 0 w 9850680"/>
              <a:gd name="textAreaRight" fmla="*/ 9851400 w 9850680"/>
              <a:gd name="textAreaTop" fmla="*/ 0 h 3312000"/>
              <a:gd name="textAreaBottom" fmla="*/ 3312720 h 3312000"/>
            </a:gdLst>
            <a:ahLst/>
            <a:cxnLst/>
            <a:rect l="textAreaLeft" t="textAreaTop" r="textAreaRight" b="textAreaBottom"/>
            <a:pathLst>
              <a:path w="9851540" h="3312580">
                <a:moveTo>
                  <a:pt x="0" y="0"/>
                </a:moveTo>
                <a:lnTo>
                  <a:pt x="9851540" y="0"/>
                </a:lnTo>
                <a:lnTo>
                  <a:pt x="9851540" y="3312580"/>
                </a:lnTo>
                <a:lnTo>
                  <a:pt x="0" y="33125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" name="TextBox 4"/>
          <p:cNvSpPr/>
          <p:nvPr/>
        </p:nvSpPr>
        <p:spPr>
          <a:xfrm>
            <a:off x="1028880" y="703800"/>
            <a:ext cx="1571076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Kimlik Doğrulama NFA-DFA</a:t>
            </a:r>
            <a:endParaRPr lang="tr-TR" sz="9200" b="0" strike="noStrike" spc="-1"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12822120" y="4098960"/>
            <a:ext cx="4021200" cy="60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Kimlik Doğrulam NFA</a:t>
            </a:r>
            <a:endParaRPr lang="tr-TR" sz="3400" b="0" strike="noStrike" spc="-1"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12996360" y="7259400"/>
            <a:ext cx="4021200" cy="60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Kimlik Doğrulam DFA</a:t>
            </a:r>
            <a:endParaRPr lang="tr-TR" sz="3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 2"/>
          <p:cNvSpPr/>
          <p:nvPr/>
        </p:nvSpPr>
        <p:spPr>
          <a:xfrm>
            <a:off x="1028880" y="2423880"/>
            <a:ext cx="8187120" cy="5925240"/>
          </a:xfrm>
          <a:custGeom>
            <a:avLst/>
            <a:gdLst>
              <a:gd name="textAreaLeft" fmla="*/ 0 w 8187120"/>
              <a:gd name="textAreaRight" fmla="*/ 8187840 w 8187120"/>
              <a:gd name="textAreaTop" fmla="*/ 0 h 5925240"/>
              <a:gd name="textAreaBottom" fmla="*/ 5925960 h 5925240"/>
            </a:gdLst>
            <a:ahLst/>
            <a:cxnLst/>
            <a:rect l="textAreaLeft" t="textAreaTop" r="textAreaRight" b="textAreaBottom"/>
            <a:pathLst>
              <a:path w="8187995" h="5926061">
                <a:moveTo>
                  <a:pt x="0" y="0"/>
                </a:moveTo>
                <a:lnTo>
                  <a:pt x="8187995" y="0"/>
                </a:lnTo>
                <a:lnTo>
                  <a:pt x="8187995" y="5926062"/>
                </a:lnTo>
                <a:lnTo>
                  <a:pt x="0" y="59260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" name="Freeform 3"/>
          <p:cNvSpPr/>
          <p:nvPr/>
        </p:nvSpPr>
        <p:spPr>
          <a:xfrm>
            <a:off x="9216720" y="2423880"/>
            <a:ext cx="7868880" cy="5925240"/>
          </a:xfrm>
          <a:custGeom>
            <a:avLst/>
            <a:gdLst>
              <a:gd name="textAreaLeft" fmla="*/ 0 w 7868880"/>
              <a:gd name="textAreaRight" fmla="*/ 7869600 w 7868880"/>
              <a:gd name="textAreaTop" fmla="*/ 0 h 5925240"/>
              <a:gd name="textAreaBottom" fmla="*/ 5925960 h 5925240"/>
            </a:gdLst>
            <a:ahLst/>
            <a:cxnLst/>
            <a:rect l="textAreaLeft" t="textAreaTop" r="textAreaRight" b="textAreaBottom"/>
            <a:pathLst>
              <a:path w="7869754" h="5926061">
                <a:moveTo>
                  <a:pt x="0" y="0"/>
                </a:moveTo>
                <a:lnTo>
                  <a:pt x="7869754" y="0"/>
                </a:lnTo>
                <a:lnTo>
                  <a:pt x="7869754" y="5926062"/>
                </a:lnTo>
                <a:lnTo>
                  <a:pt x="0" y="59260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" name="TextBox 4"/>
          <p:cNvSpPr/>
          <p:nvPr/>
        </p:nvSpPr>
        <p:spPr>
          <a:xfrm>
            <a:off x="1028880" y="800280"/>
            <a:ext cx="12161160" cy="163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İşlem Seçimi NFA-DFA</a:t>
            </a:r>
            <a:endParaRPr lang="tr-TR" sz="9200" b="0" strike="noStrike" spc="-1"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12161880" y="8264160"/>
            <a:ext cx="3205440" cy="60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İşlem Seçimi DFA</a:t>
            </a:r>
            <a:endParaRPr lang="tr-TR" sz="3400" b="0" strike="noStrike" spc="-1">
              <a:latin typeface="Arial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3892680" y="8264160"/>
            <a:ext cx="3205440" cy="60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İşlem Seçimi NFA</a:t>
            </a:r>
            <a:endParaRPr lang="tr-TR" sz="3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reeform 2"/>
          <p:cNvSpPr/>
          <p:nvPr/>
        </p:nvSpPr>
        <p:spPr>
          <a:xfrm>
            <a:off x="1028880" y="2423880"/>
            <a:ext cx="9870120" cy="4042440"/>
          </a:xfrm>
          <a:custGeom>
            <a:avLst/>
            <a:gdLst>
              <a:gd name="textAreaLeft" fmla="*/ 0 w 9870120"/>
              <a:gd name="textAreaRight" fmla="*/ 9870840 w 9870120"/>
              <a:gd name="textAreaTop" fmla="*/ 0 h 4042440"/>
              <a:gd name="textAreaBottom" fmla="*/ 4043160 h 4042440"/>
            </a:gdLst>
            <a:ahLst/>
            <a:cxnLst/>
            <a:rect l="textAreaLeft" t="textAreaTop" r="textAreaRight" b="textAreaBottom"/>
            <a:pathLst>
              <a:path w="9870850" h="4043314">
                <a:moveTo>
                  <a:pt x="0" y="0"/>
                </a:moveTo>
                <a:lnTo>
                  <a:pt x="9870850" y="0"/>
                </a:lnTo>
                <a:lnTo>
                  <a:pt x="9870850" y="4043315"/>
                </a:lnTo>
                <a:lnTo>
                  <a:pt x="0" y="40433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" name="Freeform 3"/>
          <p:cNvSpPr/>
          <p:nvPr/>
        </p:nvSpPr>
        <p:spPr>
          <a:xfrm>
            <a:off x="1028880" y="6467040"/>
            <a:ext cx="9870120" cy="2790360"/>
          </a:xfrm>
          <a:custGeom>
            <a:avLst/>
            <a:gdLst>
              <a:gd name="textAreaLeft" fmla="*/ 0 w 9870120"/>
              <a:gd name="textAreaRight" fmla="*/ 9870840 w 9870120"/>
              <a:gd name="textAreaTop" fmla="*/ 0 h 2790360"/>
              <a:gd name="textAreaBottom" fmla="*/ 2791080 h 2790360"/>
            </a:gdLst>
            <a:ahLst/>
            <a:cxnLst/>
            <a:rect l="textAreaLeft" t="textAreaTop" r="textAreaRight" b="textAreaBottom"/>
            <a:pathLst>
              <a:path w="9870850" h="2791191">
                <a:moveTo>
                  <a:pt x="0" y="0"/>
                </a:moveTo>
                <a:lnTo>
                  <a:pt x="9870850" y="0"/>
                </a:lnTo>
                <a:lnTo>
                  <a:pt x="9870850" y="2791191"/>
                </a:lnTo>
                <a:lnTo>
                  <a:pt x="0" y="279119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" name="TextBox 4"/>
          <p:cNvSpPr/>
          <p:nvPr/>
        </p:nvSpPr>
        <p:spPr>
          <a:xfrm>
            <a:off x="1028880" y="523800"/>
            <a:ext cx="1571076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Oturum Yönetimi NFA- DFA</a:t>
            </a:r>
            <a:endParaRPr lang="tr-TR" sz="9200" b="0" strike="noStrike" spc="-1"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12030480" y="7263360"/>
            <a:ext cx="3885120" cy="60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Oturum Yönetim DFA</a:t>
            </a:r>
            <a:endParaRPr lang="tr-TR" sz="3400" b="0" strike="noStrike" spc="-1"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12030480" y="4543920"/>
            <a:ext cx="3885120" cy="60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Oturum Yönetim NFA</a:t>
            </a:r>
            <a:endParaRPr lang="tr-TR" sz="3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reeform 2"/>
          <p:cNvSpPr/>
          <p:nvPr/>
        </p:nvSpPr>
        <p:spPr>
          <a:xfrm>
            <a:off x="1028880" y="2423880"/>
            <a:ext cx="10453680" cy="3710520"/>
          </a:xfrm>
          <a:custGeom>
            <a:avLst/>
            <a:gdLst>
              <a:gd name="textAreaLeft" fmla="*/ 0 w 10453680"/>
              <a:gd name="textAreaRight" fmla="*/ 10454400 w 10453680"/>
              <a:gd name="textAreaTop" fmla="*/ 0 h 3710520"/>
              <a:gd name="textAreaBottom" fmla="*/ 3711240 h 3710520"/>
            </a:gdLst>
            <a:ahLst/>
            <a:cxnLst/>
            <a:rect l="textAreaLeft" t="textAreaTop" r="textAreaRight" b="textAreaBottom"/>
            <a:pathLst>
              <a:path w="10454311" h="3711280">
                <a:moveTo>
                  <a:pt x="0" y="0"/>
                </a:moveTo>
                <a:lnTo>
                  <a:pt x="10454311" y="0"/>
                </a:lnTo>
                <a:lnTo>
                  <a:pt x="10454311" y="3711281"/>
                </a:lnTo>
                <a:lnTo>
                  <a:pt x="0" y="371128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Freeform 3"/>
          <p:cNvSpPr/>
          <p:nvPr/>
        </p:nvSpPr>
        <p:spPr>
          <a:xfrm>
            <a:off x="1028880" y="6135120"/>
            <a:ext cx="10453680" cy="3122640"/>
          </a:xfrm>
          <a:custGeom>
            <a:avLst/>
            <a:gdLst>
              <a:gd name="textAreaLeft" fmla="*/ 0 w 10453680"/>
              <a:gd name="textAreaRight" fmla="*/ 10454400 w 10453680"/>
              <a:gd name="textAreaTop" fmla="*/ 0 h 3122640"/>
              <a:gd name="textAreaBottom" fmla="*/ 3123360 h 3122640"/>
            </a:gdLst>
            <a:ahLst/>
            <a:cxnLst/>
            <a:rect l="textAreaLeft" t="textAreaTop" r="textAreaRight" b="textAreaBottom"/>
            <a:pathLst>
              <a:path w="10454311" h="3123225">
                <a:moveTo>
                  <a:pt x="0" y="0"/>
                </a:moveTo>
                <a:lnTo>
                  <a:pt x="10454311" y="0"/>
                </a:lnTo>
                <a:lnTo>
                  <a:pt x="10454311" y="3123225"/>
                </a:lnTo>
                <a:lnTo>
                  <a:pt x="0" y="312322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TextBox 4"/>
          <p:cNvSpPr/>
          <p:nvPr/>
        </p:nvSpPr>
        <p:spPr>
          <a:xfrm>
            <a:off x="1028880" y="360000"/>
            <a:ext cx="1463076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Transfer ε-NFA - DFA</a:t>
            </a:r>
            <a:endParaRPr lang="tr-TR" sz="9200" b="0" strike="noStrike" spc="-1"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13011120" y="4543920"/>
            <a:ext cx="2795400" cy="60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Transfer ε-NFA </a:t>
            </a:r>
            <a:endParaRPr lang="tr-TR" sz="3400" b="0" strike="noStrike" spc="-1">
              <a:latin typeface="Arial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13173840" y="7097400"/>
            <a:ext cx="2470320" cy="60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Transfer DFA </a:t>
            </a:r>
            <a:endParaRPr lang="tr-TR" sz="3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2"/>
          <p:cNvSpPr/>
          <p:nvPr/>
        </p:nvSpPr>
        <p:spPr>
          <a:xfrm>
            <a:off x="1028880" y="2589480"/>
            <a:ext cx="10137240" cy="3408120"/>
          </a:xfrm>
          <a:custGeom>
            <a:avLst/>
            <a:gdLst>
              <a:gd name="textAreaLeft" fmla="*/ 0 w 10137240"/>
              <a:gd name="textAreaRight" fmla="*/ 10137960 w 10137240"/>
              <a:gd name="textAreaTop" fmla="*/ 0 h 3408120"/>
              <a:gd name="textAreaBottom" fmla="*/ 3408840 h 3408120"/>
            </a:gdLst>
            <a:ahLst/>
            <a:cxnLst/>
            <a:rect l="textAreaLeft" t="textAreaTop" r="textAreaRight" b="textAreaBottom"/>
            <a:pathLst>
              <a:path w="10138065" h="3408924">
                <a:moveTo>
                  <a:pt x="0" y="0"/>
                </a:moveTo>
                <a:lnTo>
                  <a:pt x="10138065" y="0"/>
                </a:lnTo>
                <a:lnTo>
                  <a:pt x="10138065" y="3408924"/>
                </a:lnTo>
                <a:lnTo>
                  <a:pt x="0" y="34089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Freeform 3"/>
          <p:cNvSpPr/>
          <p:nvPr/>
        </p:nvSpPr>
        <p:spPr>
          <a:xfrm>
            <a:off x="11427840" y="2589480"/>
            <a:ext cx="6374880" cy="5267160"/>
          </a:xfrm>
          <a:custGeom>
            <a:avLst/>
            <a:gdLst>
              <a:gd name="textAreaLeft" fmla="*/ 0 w 6374880"/>
              <a:gd name="textAreaRight" fmla="*/ 6375600 w 6374880"/>
              <a:gd name="textAreaTop" fmla="*/ 0 h 5267160"/>
              <a:gd name="textAreaBottom" fmla="*/ 5267880 h 5267160"/>
            </a:gdLst>
            <a:ahLst/>
            <a:cxnLst/>
            <a:rect l="textAreaLeft" t="textAreaTop" r="textAreaRight" b="textAreaBottom"/>
            <a:pathLst>
              <a:path w="6375485" h="5267745">
                <a:moveTo>
                  <a:pt x="0" y="0"/>
                </a:moveTo>
                <a:lnTo>
                  <a:pt x="6375485" y="0"/>
                </a:lnTo>
                <a:lnTo>
                  <a:pt x="6375485" y="5267744"/>
                </a:lnTo>
                <a:lnTo>
                  <a:pt x="0" y="526774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TextBox 4"/>
          <p:cNvSpPr/>
          <p:nvPr/>
        </p:nvSpPr>
        <p:spPr>
          <a:xfrm>
            <a:off x="1028880" y="838080"/>
            <a:ext cx="16229880" cy="142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strike="noStrike" spc="-1">
                <a:solidFill>
                  <a:srgbClr val="3D2917"/>
                </a:solidFill>
                <a:latin typeface="Arimo Bold"/>
                <a:ea typeface="Arimo Bold"/>
              </a:rPr>
              <a:t>Kimlik Doğrulama &amp; İşlem Seçimi</a:t>
            </a:r>
            <a:endParaRPr lang="tr-TR" sz="8000" b="0" strike="noStrike" spc="-1">
              <a:latin typeface="Arial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1028880" y="5912640"/>
            <a:ext cx="5626800" cy="120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Kimlik Doğrulama dfa          q0–q6, 3 PIN denemesi hakkı</a:t>
            </a:r>
            <a:endParaRPr lang="tr-TR" sz="3400" b="0" strike="noStrike" spc="-1">
              <a:latin typeface="Arial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11427840" y="7771680"/>
            <a:ext cx="5626800" cy="181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İşlem Seçimi dfa               q6→q7 ε-geçiş, 4 işlem seçeneği</a:t>
            </a:r>
            <a:endParaRPr lang="tr-TR" sz="3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Freeform 2"/>
          <p:cNvSpPr/>
          <p:nvPr/>
        </p:nvSpPr>
        <p:spPr>
          <a:xfrm>
            <a:off x="1028880" y="2423880"/>
            <a:ext cx="11239920" cy="4160880"/>
          </a:xfrm>
          <a:custGeom>
            <a:avLst/>
            <a:gdLst>
              <a:gd name="textAreaLeft" fmla="*/ 0 w 11239920"/>
              <a:gd name="textAreaRight" fmla="*/ 11240640 w 11239920"/>
              <a:gd name="textAreaTop" fmla="*/ 0 h 4160880"/>
              <a:gd name="textAreaBottom" fmla="*/ 4161600 h 4160880"/>
            </a:gdLst>
            <a:ahLst/>
            <a:cxnLst/>
            <a:rect l="textAreaLeft" t="textAreaTop" r="textAreaRight" b="textAreaBottom"/>
            <a:pathLst>
              <a:path w="11240781" h="4161693">
                <a:moveTo>
                  <a:pt x="0" y="0"/>
                </a:moveTo>
                <a:lnTo>
                  <a:pt x="11240781" y="0"/>
                </a:lnTo>
                <a:lnTo>
                  <a:pt x="11240781" y="4161693"/>
                </a:lnTo>
                <a:lnTo>
                  <a:pt x="0" y="416169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2" name="Freeform 3"/>
          <p:cNvSpPr/>
          <p:nvPr/>
        </p:nvSpPr>
        <p:spPr>
          <a:xfrm>
            <a:off x="1028880" y="6727320"/>
            <a:ext cx="11239920" cy="3516840"/>
          </a:xfrm>
          <a:custGeom>
            <a:avLst/>
            <a:gdLst>
              <a:gd name="textAreaLeft" fmla="*/ 0 w 11239920"/>
              <a:gd name="textAreaRight" fmla="*/ 11240640 w 11239920"/>
              <a:gd name="textAreaTop" fmla="*/ 0 h 3516840"/>
              <a:gd name="textAreaBottom" fmla="*/ 3517560 h 3516840"/>
            </a:gdLst>
            <a:ahLst/>
            <a:cxnLst/>
            <a:rect l="textAreaLeft" t="textAreaTop" r="textAreaRight" b="textAreaBottom"/>
            <a:pathLst>
              <a:path w="11240781" h="3517517">
                <a:moveTo>
                  <a:pt x="0" y="0"/>
                </a:moveTo>
                <a:lnTo>
                  <a:pt x="11240781" y="0"/>
                </a:lnTo>
                <a:lnTo>
                  <a:pt x="11240781" y="3517517"/>
                </a:lnTo>
                <a:lnTo>
                  <a:pt x="0" y="351751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TextBox 4"/>
          <p:cNvSpPr/>
          <p:nvPr/>
        </p:nvSpPr>
        <p:spPr>
          <a:xfrm>
            <a:off x="1028880" y="360000"/>
            <a:ext cx="1643076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Para Çekme &amp; Para Yatırma</a:t>
            </a:r>
            <a:endParaRPr lang="tr-TR" sz="9200" b="0" strike="noStrike" spc="-1"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12602880" y="3261960"/>
            <a:ext cx="4198320" cy="181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Para Çekme dfa      Tutar, bakiye ve limit kontrolü</a:t>
            </a:r>
            <a:endParaRPr lang="tr-TR" sz="3400" b="0" strike="noStrike" spc="-1">
              <a:latin typeface="Arial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12929400" y="6858720"/>
            <a:ext cx="4198320" cy="181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Para Yatırma dfa     Nakit yatırma, sayma ve onay</a:t>
            </a:r>
            <a:endParaRPr lang="tr-TR" sz="3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eform 2"/>
          <p:cNvSpPr/>
          <p:nvPr/>
        </p:nvSpPr>
        <p:spPr>
          <a:xfrm>
            <a:off x="1028880" y="2648880"/>
            <a:ext cx="11300400" cy="3375360"/>
          </a:xfrm>
          <a:custGeom>
            <a:avLst/>
            <a:gdLst>
              <a:gd name="textAreaLeft" fmla="*/ 0 w 11300400"/>
              <a:gd name="textAreaRight" fmla="*/ 11301120 w 11300400"/>
              <a:gd name="textAreaTop" fmla="*/ 0 h 3375360"/>
              <a:gd name="textAreaBottom" fmla="*/ 3376080 h 3375360"/>
            </a:gdLst>
            <a:ahLst/>
            <a:cxnLst/>
            <a:rect l="textAreaLeft" t="textAreaTop" r="textAreaRight" b="textAreaBottom"/>
            <a:pathLst>
              <a:path w="11301259" h="3376251">
                <a:moveTo>
                  <a:pt x="0" y="0"/>
                </a:moveTo>
                <a:lnTo>
                  <a:pt x="11301259" y="0"/>
                </a:lnTo>
                <a:lnTo>
                  <a:pt x="11301259" y="3376252"/>
                </a:lnTo>
                <a:lnTo>
                  <a:pt x="0" y="33762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7" name="Freeform 3"/>
          <p:cNvSpPr/>
          <p:nvPr/>
        </p:nvSpPr>
        <p:spPr>
          <a:xfrm>
            <a:off x="1028880" y="6235200"/>
            <a:ext cx="11300400" cy="3022200"/>
          </a:xfrm>
          <a:custGeom>
            <a:avLst/>
            <a:gdLst>
              <a:gd name="textAreaLeft" fmla="*/ 0 w 11300400"/>
              <a:gd name="textAreaRight" fmla="*/ 11301120 w 11300400"/>
              <a:gd name="textAreaTop" fmla="*/ 0 h 3022200"/>
              <a:gd name="textAreaBottom" fmla="*/ 3022920 h 3022200"/>
            </a:gdLst>
            <a:ahLst/>
            <a:cxnLst/>
            <a:rect l="textAreaLeft" t="textAreaTop" r="textAreaRight" b="textAreaBottom"/>
            <a:pathLst>
              <a:path w="11301259" h="3023087">
                <a:moveTo>
                  <a:pt x="0" y="0"/>
                </a:moveTo>
                <a:lnTo>
                  <a:pt x="11301259" y="0"/>
                </a:lnTo>
                <a:lnTo>
                  <a:pt x="11301259" y="3023087"/>
                </a:lnTo>
                <a:lnTo>
                  <a:pt x="0" y="30230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8" name="TextBox 4"/>
          <p:cNvSpPr/>
          <p:nvPr/>
        </p:nvSpPr>
        <p:spPr>
          <a:xfrm>
            <a:off x="1028880" y="540000"/>
            <a:ext cx="1643076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Transfer &amp; Oturum Yönetimi</a:t>
            </a:r>
            <a:endParaRPr lang="tr-TR" sz="9200" b="0" strike="noStrike" spc="-1">
              <a:latin typeface="Arial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12330000" y="3253320"/>
            <a:ext cx="4928760" cy="181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Transfer dfa                           ε-NFA → DFA dönüşümü, q21→q22 ε-geçiş</a:t>
            </a:r>
            <a:endParaRPr lang="tr-TR" sz="3400" b="0" strike="noStrike" spc="-1"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12330000" y="6804000"/>
            <a:ext cx="4928760" cy="120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4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Oturum Yönetimi dfa Makbuz seçimi, kart iadesi</a:t>
            </a:r>
            <a:endParaRPr lang="tr-TR" sz="3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2"/>
          <p:cNvSpPr/>
          <p:nvPr/>
        </p:nvSpPr>
        <p:spPr>
          <a:xfrm>
            <a:off x="1028880" y="800280"/>
            <a:ext cx="1409076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Test Senaryoları</a:t>
            </a:r>
            <a:endParaRPr lang="tr-TR" sz="9200" b="0" strike="noStrike" spc="-1"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1028880" y="2851560"/>
            <a:ext cx="12468960" cy="65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Sistem toplamda 10 farklı senaryo ile test edilmiştir</a:t>
            </a:r>
            <a:endParaRPr lang="tr-TR" sz="3700" b="0" strike="noStrike" spc="-1">
              <a:latin typeface="Arial"/>
            </a:endParaRPr>
          </a:p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Test senaryoları; kabul, red, hata ve iptal durumlarını kapsamaktadır</a:t>
            </a:r>
            <a:endParaRPr lang="tr-TR" sz="3700" b="0" strike="noStrike" spc="-1">
              <a:latin typeface="Arial"/>
            </a:endParaRPr>
          </a:p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Senaryolar Java simülatörü ile çalıştırılmış, tüm sonuçlar beklenen değerlerle uyumlu bulunmuştur</a:t>
            </a:r>
            <a:endParaRPr lang="tr-TR" sz="3700" b="0" strike="noStrike" spc="-1">
              <a:latin typeface="Arial"/>
            </a:endParaRPr>
          </a:p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Test sonuçlarının daha net görülebilmesi için grafiksel kullanıcı arayüzü (GUI) geliştirilmiştir</a:t>
            </a:r>
            <a:endParaRPr lang="tr-TR" sz="3700" b="0" strike="noStrike" spc="-1">
              <a:latin typeface="Arial"/>
            </a:endParaRPr>
          </a:p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Arayüz üzerinden hem manuel test hem de hazır senaryolar otomatik olarak çalıştırılabilmektedir</a:t>
            </a:r>
            <a:endParaRPr lang="tr-TR" sz="3700" b="0" strike="noStrike" spc="-1">
              <a:latin typeface="Arial"/>
            </a:endParaRPr>
          </a:p>
          <a:p>
            <a:pPr algn="ctr">
              <a:lnSpc>
                <a:spcPts val="4759"/>
              </a:lnSpc>
            </a:pPr>
            <a:endParaRPr lang="tr-T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3"/>
          <p:cNvSpPr/>
          <p:nvPr/>
        </p:nvSpPr>
        <p:spPr>
          <a:xfrm>
            <a:off x="1080000" y="343800"/>
            <a:ext cx="1211076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Test Sonuçları</a:t>
            </a:r>
            <a:endParaRPr lang="tr-TR" sz="9200" b="0" strike="noStrike" spc="-1">
              <a:latin typeface="Arial"/>
            </a:endParaRPr>
          </a:p>
        </p:txBody>
      </p:sp>
      <p:pic>
        <p:nvPicPr>
          <p:cNvPr id="104" name="Resim 103"/>
          <p:cNvPicPr/>
          <p:nvPr/>
        </p:nvPicPr>
        <p:blipFill>
          <a:blip r:embed="rId2"/>
          <a:stretch/>
        </p:blipFill>
        <p:spPr>
          <a:xfrm>
            <a:off x="1260000" y="2160000"/>
            <a:ext cx="14936400" cy="7656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2"/>
          <p:cNvSpPr/>
          <p:nvPr/>
        </p:nvSpPr>
        <p:spPr>
          <a:xfrm>
            <a:off x="1028880" y="523800"/>
            <a:ext cx="491076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Sonuç</a:t>
            </a:r>
            <a:endParaRPr lang="tr-TR" sz="9200" b="0" strike="noStrike" spc="-1"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1028880" y="2452320"/>
            <a:ext cx="16229880" cy="78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ATM sistemi, otomata teorisinin gerçek hayattaki en doğal uygulamalarından biridir</a:t>
            </a:r>
            <a:endParaRPr lang="tr-TR" sz="3700" b="0" strike="noStrike" spc="-1">
              <a:latin typeface="Arial"/>
            </a:endParaRPr>
          </a:p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Sistemin her an yalnızca tek bir durumda bulunması, aldığı girişe göre deterministik olarak bir sonraki duruma geçmesi ve sonlu sayıda durumdan oluşması DFA'nın tanımıyla birebir örtüşmektedir</a:t>
            </a:r>
            <a:endParaRPr lang="tr-TR" sz="3700" b="0" strike="noStrike" spc="-1">
              <a:latin typeface="Arial"/>
            </a:endParaRPr>
          </a:p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Transfer alt sisteminde ε-NFA → NFA → DFA dönüşüm zinciri başarıyla uygulanmıştır</a:t>
            </a:r>
            <a:endParaRPr lang="tr-TR" sz="3700" b="0" strike="noStrike" spc="-1">
              <a:latin typeface="Arial"/>
            </a:endParaRPr>
          </a:p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Regular Expression ile tüm sistemin kabul ettiği geçerli giriş dizileri matematiksel olarak ifade edilmiştir</a:t>
            </a:r>
            <a:endParaRPr lang="tr-TR" sz="3700" b="0" strike="noStrike" spc="-1">
              <a:latin typeface="Arial"/>
            </a:endParaRPr>
          </a:p>
          <a:p>
            <a:pPr marL="798840" lvl="1" indent="-399240">
              <a:lnSpc>
                <a:spcPts val="5179"/>
              </a:lnSpc>
              <a:buClr>
                <a:srgbClr val="3D2917"/>
              </a:buClr>
              <a:buFont typeface="Arial"/>
              <a:buChar char="•"/>
            </a:pPr>
            <a:r>
              <a:rPr lang="en-US" sz="3700" b="0" strike="noStrike" spc="-1">
                <a:solidFill>
                  <a:srgbClr val="3D2917"/>
                </a:solidFill>
                <a:latin typeface="Times New Roman"/>
                <a:ea typeface="Times New Roman"/>
              </a:rPr>
              <a:t>Bu proje otomata teorisinin yalnızca teorik bir konu olmadığını, gerçek dünya sistemlerinin modellenmesinde doğrudan kullanılabildiğini göstermektedir</a:t>
            </a:r>
            <a:endParaRPr lang="tr-TR" sz="3700" b="0" strike="noStrike" spc="-1">
              <a:latin typeface="Arial"/>
            </a:endParaRPr>
          </a:p>
          <a:p>
            <a:pPr>
              <a:lnSpc>
                <a:spcPts val="4759"/>
              </a:lnSpc>
            </a:pPr>
            <a:endParaRPr lang="tr-TR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3"/>
          <p:cNvSpPr/>
          <p:nvPr/>
        </p:nvSpPr>
        <p:spPr>
          <a:xfrm>
            <a:off x="1028880" y="343800"/>
            <a:ext cx="11750760" cy="163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12881"/>
              </a:lnSpc>
            </a:pPr>
            <a:r>
              <a:rPr lang="en-US" sz="9200" b="1" strike="noStrike" spc="-1">
                <a:solidFill>
                  <a:srgbClr val="3D2917"/>
                </a:solidFill>
                <a:latin typeface="Times New Roman Bold"/>
                <a:ea typeface="Times New Roman Bold"/>
              </a:rPr>
              <a:t>Görev Dağılımı</a:t>
            </a:r>
            <a:endParaRPr lang="tr-TR" sz="9200" b="0" strike="noStrike" spc="-1">
              <a:latin typeface="Arial"/>
            </a:endParaRPr>
          </a:p>
        </p:txBody>
      </p:sp>
      <p:pic>
        <p:nvPicPr>
          <p:cNvPr id="108" name="Resim 107"/>
          <p:cNvPicPr/>
          <p:nvPr/>
        </p:nvPicPr>
        <p:blipFill>
          <a:blip r:embed="rId2"/>
          <a:stretch/>
        </p:blipFill>
        <p:spPr>
          <a:xfrm>
            <a:off x="1080000" y="2340000"/>
            <a:ext cx="14747040" cy="6839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Freeform 2"/>
          <p:cNvSpPr/>
          <p:nvPr/>
        </p:nvSpPr>
        <p:spPr>
          <a:xfrm rot="14933400">
            <a:off x="1516707" y="-585721"/>
            <a:ext cx="9399600" cy="9722160"/>
          </a:xfrm>
          <a:custGeom>
            <a:avLst/>
            <a:gdLst>
              <a:gd name="textAreaLeft" fmla="*/ 0 w 9399600"/>
              <a:gd name="textAreaRight" fmla="*/ 9400320 w 9399600"/>
              <a:gd name="textAreaTop" fmla="*/ 0 h 9722160"/>
              <a:gd name="textAreaBottom" fmla="*/ 9722880 h 9722160"/>
            </a:gdLst>
            <a:ahLst/>
            <a:cxnLst/>
            <a:rect l="textAreaLeft" t="textAreaTop" r="textAreaRight" b="textAreaBottom"/>
            <a:pathLst>
              <a:path w="9400422" h="9722890">
                <a:moveTo>
                  <a:pt x="0" y="0"/>
                </a:moveTo>
                <a:lnTo>
                  <a:pt x="9400422" y="0"/>
                </a:lnTo>
                <a:lnTo>
                  <a:pt x="9400422" y="9722890"/>
                </a:lnTo>
                <a:lnTo>
                  <a:pt x="0" y="97228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8000"/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0" name="Freeform 3"/>
          <p:cNvSpPr/>
          <p:nvPr/>
        </p:nvSpPr>
        <p:spPr>
          <a:xfrm rot="5631600">
            <a:off x="418656" y="-459361"/>
            <a:ext cx="8655480" cy="8952480"/>
          </a:xfrm>
          <a:custGeom>
            <a:avLst/>
            <a:gdLst>
              <a:gd name="textAreaLeft" fmla="*/ 0 w 8655480"/>
              <a:gd name="textAreaRight" fmla="*/ 8656200 w 8655480"/>
              <a:gd name="textAreaTop" fmla="*/ 0 h 8952480"/>
              <a:gd name="textAreaBottom" fmla="*/ 8953200 h 8952480"/>
            </a:gdLst>
            <a:ahLst/>
            <a:cxnLst/>
            <a:rect l="textAreaLeft" t="textAreaTop" r="textAreaRight" b="textAreaBottom"/>
            <a:pathLst>
              <a:path w="8656207" h="8953145">
                <a:moveTo>
                  <a:pt x="0" y="0"/>
                </a:moveTo>
                <a:lnTo>
                  <a:pt x="8656206" y="0"/>
                </a:lnTo>
                <a:lnTo>
                  <a:pt x="8656206" y="8953145"/>
                </a:lnTo>
                <a:lnTo>
                  <a:pt x="0" y="8953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8000"/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Freeform 4"/>
          <p:cNvSpPr/>
          <p:nvPr/>
        </p:nvSpPr>
        <p:spPr>
          <a:xfrm>
            <a:off x="0" y="1164600"/>
            <a:ext cx="8343000" cy="9122400"/>
          </a:xfrm>
          <a:custGeom>
            <a:avLst/>
            <a:gdLst>
              <a:gd name="textAreaLeft" fmla="*/ 0 w 8343000"/>
              <a:gd name="textAreaRight" fmla="*/ 8343720 w 8343000"/>
              <a:gd name="textAreaTop" fmla="*/ 0 h 9122400"/>
              <a:gd name="textAreaBottom" fmla="*/ 9123120 h 9122400"/>
            </a:gdLst>
            <a:ahLst/>
            <a:cxnLst/>
            <a:rect l="textAreaLeft" t="textAreaTop" r="textAreaRight" b="textAreaBottom"/>
            <a:pathLst>
              <a:path w="8343860" h="9123127">
                <a:moveTo>
                  <a:pt x="0" y="0"/>
                </a:moveTo>
                <a:lnTo>
                  <a:pt x="8343860" y="0"/>
                </a:lnTo>
                <a:lnTo>
                  <a:pt x="8343860" y="9123127"/>
                </a:lnTo>
                <a:lnTo>
                  <a:pt x="0" y="912312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2" name="Freeform 5"/>
          <p:cNvSpPr/>
          <p:nvPr/>
        </p:nvSpPr>
        <p:spPr>
          <a:xfrm rot="10800000">
            <a:off x="0" y="1650863"/>
            <a:ext cx="7797240" cy="8525520"/>
          </a:xfrm>
          <a:custGeom>
            <a:avLst/>
            <a:gdLst>
              <a:gd name="textAreaLeft" fmla="*/ 0 w 7797240"/>
              <a:gd name="textAreaRight" fmla="*/ 7797960 w 7797240"/>
              <a:gd name="textAreaTop" fmla="*/ 0 h 8525520"/>
              <a:gd name="textAreaBottom" fmla="*/ 8526240 h 8525520"/>
            </a:gdLst>
            <a:ahLst/>
            <a:cxnLst/>
            <a:rect l="textAreaLeft" t="textAreaTop" r="textAreaRight" b="textAreaBottom"/>
            <a:pathLst>
              <a:path w="7797854" h="8526128">
                <a:moveTo>
                  <a:pt x="0" y="0"/>
                </a:moveTo>
                <a:lnTo>
                  <a:pt x="7797854" y="0"/>
                </a:lnTo>
                <a:lnTo>
                  <a:pt x="7797854" y="8526127"/>
                </a:lnTo>
                <a:lnTo>
                  <a:pt x="0" y="852612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3" name="TextBox 6"/>
          <p:cNvSpPr/>
          <p:nvPr/>
        </p:nvSpPr>
        <p:spPr>
          <a:xfrm>
            <a:off x="4080960" y="3382200"/>
            <a:ext cx="8091360" cy="63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4997"/>
              </a:lnSpc>
            </a:pPr>
            <a:r>
              <a:rPr lang="en-US" sz="5050" b="1" strike="noStrike" spc="301">
                <a:solidFill>
                  <a:srgbClr val="3D2917"/>
                </a:solidFill>
                <a:latin typeface="Monterchi Serif Bold"/>
                <a:ea typeface="Monterchi Serif Bold"/>
              </a:rPr>
              <a:t>DİNLEDİĞİNİZ İÇİN</a:t>
            </a:r>
            <a:endParaRPr lang="tr-TR" sz="5050" b="0" strike="noStrike" spc="-1">
              <a:latin typeface="Arial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1578240" y="4275360"/>
            <a:ext cx="14330520" cy="181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14255"/>
              </a:lnSpc>
            </a:pPr>
            <a:r>
              <a:rPr lang="en-US" sz="14400" b="0" strike="noStrike" spc="874">
                <a:solidFill>
                  <a:srgbClr val="3D2917"/>
                </a:solidFill>
                <a:latin typeface="Times New Roman"/>
                <a:ea typeface="Times New Roman"/>
              </a:rPr>
              <a:t>TEŞEKKÜRLER</a:t>
            </a:r>
            <a:endParaRPr lang="tr-TR" sz="14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640</Words>
  <Application>Microsoft Office PowerPoint</Application>
  <PresentationFormat>Özel</PresentationFormat>
  <Paragraphs>89</Paragraphs>
  <Slides>22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10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22</vt:i4>
      </vt:variant>
    </vt:vector>
  </HeadingPairs>
  <TitlesOfParts>
    <vt:vector size="33" baseType="lpstr">
      <vt:lpstr>Abril Fatface</vt:lpstr>
      <vt:lpstr>Arial</vt:lpstr>
      <vt:lpstr>Arimo Bold</vt:lpstr>
      <vt:lpstr>Calibri</vt:lpstr>
      <vt:lpstr>Monterchi Serif Bold</vt:lpstr>
      <vt:lpstr>Source Serif Pro</vt:lpstr>
      <vt:lpstr>Symbol</vt:lpstr>
      <vt:lpstr>Times New Roman</vt:lpstr>
      <vt:lpstr>Times New Roman Bold</vt:lpstr>
      <vt:lpstr>Wingdings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ATM Sistemi Otomata Teorisi ile Modellenmesi</dc:title>
  <dc:subject/>
  <dc:creator/>
  <dc:description/>
  <cp:lastModifiedBy>Süheyla Melike Turan</cp:lastModifiedBy>
  <cp:revision>5</cp:revision>
  <dcterms:created xsi:type="dcterms:W3CDTF">2006-08-16T00:00:00Z</dcterms:created>
  <dcterms:modified xsi:type="dcterms:W3CDTF">2026-05-31T18:37:33Z</dcterms:modified>
  <dc:identifier>DAHKkrpNVG8</dc:identifier>
  <dc:language>tr-TR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